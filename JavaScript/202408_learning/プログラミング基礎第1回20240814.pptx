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1" r:id="rId3"/>
    <p:sldId id="258" r:id="rId4"/>
    <p:sldId id="275" r:id="rId5"/>
    <p:sldId id="273" r:id="rId6"/>
    <p:sldId id="274" r:id="rId7"/>
    <p:sldId id="278" r:id="rId8"/>
    <p:sldId id="279" r:id="rId9"/>
    <p:sldId id="280" r:id="rId10"/>
    <p:sldId id="283" r:id="rId11"/>
    <p:sldId id="284" r:id="rId12"/>
    <p:sldId id="285" r:id="rId13"/>
    <p:sldId id="288" r:id="rId14"/>
    <p:sldId id="289" r:id="rId15"/>
    <p:sldId id="290" r:id="rId16"/>
    <p:sldId id="291" r:id="rId17"/>
    <p:sldId id="300" r:id="rId18"/>
    <p:sldId id="292" r:id="rId19"/>
    <p:sldId id="293" r:id="rId20"/>
    <p:sldId id="294" r:id="rId21"/>
    <p:sldId id="295" r:id="rId22"/>
    <p:sldId id="296" r:id="rId23"/>
    <p:sldId id="297" r:id="rId24"/>
    <p:sldId id="298" r:id="rId25"/>
    <p:sldId id="299" r:id="rId26"/>
    <p:sldId id="301" r:id="rId27"/>
    <p:sldId id="302" r:id="rId28"/>
    <p:sldId id="303" r:id="rId29"/>
    <p:sldId id="304" r:id="rId30"/>
    <p:sldId id="305" r:id="rId31"/>
    <p:sldId id="306" r:id="rId32"/>
    <p:sldId id="307" r:id="rId33"/>
    <p:sldId id="308" r:id="rId34"/>
    <p:sldId id="309" r:id="rId35"/>
    <p:sldId id="310" r:id="rId36"/>
    <p:sldId id="257" r:id="rId37"/>
    <p:sldId id="282" r:id="rId38"/>
    <p:sldId id="276" r:id="rId39"/>
    <p:sldId id="277"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71" autoAdjust="0"/>
    <p:restoredTop sz="94660"/>
  </p:normalViewPr>
  <p:slideViewPr>
    <p:cSldViewPr snapToGrid="0" snapToObjects="1">
      <p:cViewPr varScale="1">
        <p:scale>
          <a:sx n="112" d="100"/>
          <a:sy n="112" d="100"/>
        </p:scale>
        <p:origin x="804" y="5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00f.jp/index.html"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github.com/sakura-editor/sakura/releases/download/v2.4.2/sakura-tag-v2.4.2-build4203-a3e63915b-Win32-Release-Exe.zip"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developer.mozilla.org/ja/docs/Web/JavaScript" TargetMode="External"/><Relationship Id="rId2" Type="http://schemas.openxmlformats.org/officeDocument/2006/relationships/hyperlink" Target="https://ja.wikipedia.org/wiki/%E3%83%A1%E3%82%A4%E3%83%B3%E3%83%9A%E3%83%BC%E3%82%B8"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86504"/>
            <a:ext cx="8229600" cy="1143000"/>
          </a:xfrm>
        </p:spPr>
        <p:txBody>
          <a:bodyPr>
            <a:normAutofit/>
          </a:bodyPr>
          <a:lstStyle/>
          <a:p>
            <a:r>
              <a:rPr lang="en-US" altLang="ja-JP" dirty="0"/>
              <a:t>JavaScript </a:t>
            </a:r>
            <a:r>
              <a:rPr lang="ja-JP" altLang="en-US" dirty="0"/>
              <a:t>で変数と関数を学ぶ</a:t>
            </a:r>
            <a:endParaRPr dirty="0"/>
          </a:p>
        </p:txBody>
      </p:sp>
      <p:sp>
        <p:nvSpPr>
          <p:cNvPr id="4" name="Title 1">
            <a:extLst>
              <a:ext uri="{FF2B5EF4-FFF2-40B4-BE49-F238E27FC236}">
                <a16:creationId xmlns:a16="http://schemas.microsoft.com/office/drawing/2014/main" id="{1B262D1B-6686-F1A1-C927-44FB998FB9A4}"/>
              </a:ext>
            </a:extLst>
          </p:cNvPr>
          <p:cNvSpPr txBox="1">
            <a:spLocks/>
          </p:cNvSpPr>
          <p:nvPr/>
        </p:nvSpPr>
        <p:spPr>
          <a:xfrm>
            <a:off x="601053" y="4623274"/>
            <a:ext cx="8229600" cy="80946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ja-JP" altLang="en-US" sz="3600" dirty="0"/>
              <a:t>株式会社 </a:t>
            </a:r>
            <a:r>
              <a:rPr lang="en-US" altLang="ja-JP" sz="3600" dirty="0"/>
              <a:t>F</a:t>
            </a:r>
            <a:r>
              <a:rPr lang="ja-JP" altLang="en-US" sz="3600" dirty="0"/>
              <a:t> </a:t>
            </a:r>
            <a:r>
              <a:rPr lang="en-US" altLang="ja-JP" sz="3600" dirty="0"/>
              <a:t>:</a:t>
            </a:r>
            <a:r>
              <a:rPr lang="ja-JP" altLang="en-US" sz="3600" dirty="0"/>
              <a:t> </a:t>
            </a:r>
            <a:r>
              <a:rPr lang="en-US" altLang="ja-JP" sz="3600" dirty="0"/>
              <a:t>Training</a:t>
            </a:r>
            <a:endParaRPr lang="ja-JP" altLang="en-US" sz="3600" dirty="0"/>
          </a:p>
        </p:txBody>
      </p:sp>
      <p:sp>
        <p:nvSpPr>
          <p:cNvPr id="5" name="Title 1">
            <a:extLst>
              <a:ext uri="{FF2B5EF4-FFF2-40B4-BE49-F238E27FC236}">
                <a16:creationId xmlns:a16="http://schemas.microsoft.com/office/drawing/2014/main" id="{A8260C86-5CF1-422F-778C-60A868CEC8ED}"/>
              </a:ext>
            </a:extLst>
          </p:cNvPr>
          <p:cNvSpPr txBox="1">
            <a:spLocks/>
          </p:cNvSpPr>
          <p:nvPr/>
        </p:nvSpPr>
        <p:spPr>
          <a:xfrm>
            <a:off x="601053" y="5155458"/>
            <a:ext cx="8229600" cy="80946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ja-JP" sz="3200" dirty="0"/>
              <a:t>2024/08/14 (Wed) 21:00</a:t>
            </a:r>
            <a:r>
              <a:rPr lang="ja-JP" altLang="en-US" sz="3200" dirty="0"/>
              <a:t>～</a:t>
            </a:r>
          </a:p>
        </p:txBody>
      </p:sp>
      <p:sp>
        <p:nvSpPr>
          <p:cNvPr id="6" name="Title 1">
            <a:extLst>
              <a:ext uri="{FF2B5EF4-FFF2-40B4-BE49-F238E27FC236}">
                <a16:creationId xmlns:a16="http://schemas.microsoft.com/office/drawing/2014/main" id="{7DB7787D-2480-4892-F32B-2179DAF5CF41}"/>
              </a:ext>
            </a:extLst>
          </p:cNvPr>
          <p:cNvSpPr txBox="1">
            <a:spLocks/>
          </p:cNvSpPr>
          <p:nvPr/>
        </p:nvSpPr>
        <p:spPr>
          <a:xfrm>
            <a:off x="457200" y="1894088"/>
            <a:ext cx="8229600" cy="80946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ja-JP" altLang="en-US" sz="2400" dirty="0"/>
              <a:t>プログラミングの基礎 </a:t>
            </a:r>
            <a:r>
              <a:rPr lang="en-US" altLang="ja-JP" sz="2400" dirty="0"/>
              <a:t>: </a:t>
            </a:r>
            <a:r>
              <a:rPr lang="ja-JP" altLang="en-US" sz="2400" dirty="0"/>
              <a:t>第１回</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D2C531-BB0D-5846-9B97-046BBDA2BDA4}"/>
              </a:ext>
            </a:extLst>
          </p:cNvPr>
          <p:cNvSpPr>
            <a:spLocks noGrp="1"/>
          </p:cNvSpPr>
          <p:nvPr>
            <p:ph type="title"/>
          </p:nvPr>
        </p:nvSpPr>
        <p:spPr/>
        <p:txBody>
          <a:bodyPr/>
          <a:lstStyle/>
          <a:p>
            <a:pPr algn="l"/>
            <a:r>
              <a:rPr lang="en-US" altLang="ja-JP" b="0" i="0" dirty="0">
                <a:solidFill>
                  <a:srgbClr val="040C28"/>
                </a:solidFill>
                <a:effectLst/>
                <a:latin typeface="Google Sans"/>
              </a:rPr>
              <a:t>Agenda</a:t>
            </a:r>
            <a:endParaRPr kumimoji="1" lang="ja-JP" altLang="en-US" dirty="0"/>
          </a:p>
        </p:txBody>
      </p:sp>
      <p:sp>
        <p:nvSpPr>
          <p:cNvPr id="3" name="コンテンツ プレースホルダー 2">
            <a:extLst>
              <a:ext uri="{FF2B5EF4-FFF2-40B4-BE49-F238E27FC236}">
                <a16:creationId xmlns:a16="http://schemas.microsoft.com/office/drawing/2014/main" id="{054DB938-11C0-CB3C-B3F2-68F73F44EDA4}"/>
              </a:ext>
            </a:extLst>
          </p:cNvPr>
          <p:cNvSpPr>
            <a:spLocks noGrp="1"/>
          </p:cNvSpPr>
          <p:nvPr>
            <p:ph idx="1"/>
          </p:nvPr>
        </p:nvSpPr>
        <p:spPr/>
        <p:txBody>
          <a:bodyPr>
            <a:normAutofit fontScale="85000" lnSpcReduction="20000"/>
          </a:bodyPr>
          <a:lstStyle/>
          <a:p>
            <a:pPr marL="514350" indent="-514350">
              <a:buAutoNum type="arabicPeriod"/>
            </a:pPr>
            <a:r>
              <a:rPr kumimoji="1" lang="en-US" altLang="ja-JP" dirty="0"/>
              <a:t>Browser </a:t>
            </a:r>
            <a:r>
              <a:rPr kumimoji="1" lang="ja-JP" altLang="en-US" dirty="0"/>
              <a:t>と </a:t>
            </a:r>
            <a:r>
              <a:rPr kumimoji="1" lang="en-US" altLang="ja-JP" dirty="0"/>
              <a:t>Html</a:t>
            </a:r>
          </a:p>
          <a:p>
            <a:pPr marL="514350" indent="-514350">
              <a:buAutoNum type="arabicPeriod"/>
            </a:pPr>
            <a:r>
              <a:rPr kumimoji="1" lang="en-US" altLang="ja-JP" dirty="0"/>
              <a:t>Html </a:t>
            </a:r>
            <a:r>
              <a:rPr kumimoji="1" lang="ja-JP" altLang="en-US" dirty="0"/>
              <a:t>における </a:t>
            </a:r>
            <a:r>
              <a:rPr kumimoji="1" lang="en-US" altLang="ja-JP" dirty="0"/>
              <a:t>Object</a:t>
            </a:r>
            <a:r>
              <a:rPr kumimoji="1" lang="ja-JP" altLang="en-US" dirty="0"/>
              <a:t> の配置</a:t>
            </a:r>
            <a:endParaRPr kumimoji="1" lang="en-US" altLang="ja-JP" dirty="0"/>
          </a:p>
          <a:p>
            <a:pPr marL="514350" indent="-514350">
              <a:buAutoNum type="arabicPeriod"/>
            </a:pPr>
            <a:r>
              <a:rPr kumimoji="1" lang="en-US" altLang="ja-JP" dirty="0"/>
              <a:t>JavaScript</a:t>
            </a:r>
          </a:p>
          <a:p>
            <a:pPr marL="514350" indent="-514350">
              <a:buAutoNum type="arabicPeriod"/>
            </a:pPr>
            <a:r>
              <a:rPr kumimoji="1" lang="ja-JP" altLang="en-US" dirty="0"/>
              <a:t>標準関数と独自関数</a:t>
            </a:r>
            <a:endParaRPr kumimoji="1" lang="en-US" altLang="ja-JP" dirty="0"/>
          </a:p>
          <a:p>
            <a:pPr marL="514350" indent="-514350">
              <a:buAutoNum type="arabicPeriod"/>
            </a:pPr>
            <a:r>
              <a:rPr kumimoji="1" lang="en-US" altLang="ja-JP" dirty="0"/>
              <a:t>Html Object </a:t>
            </a:r>
            <a:r>
              <a:rPr kumimoji="1" lang="ja-JP" altLang="en-US" dirty="0"/>
              <a:t>の </a:t>
            </a:r>
            <a:r>
              <a:rPr kumimoji="1" lang="en-US" altLang="ja-JP" dirty="0"/>
              <a:t>DOM </a:t>
            </a:r>
            <a:r>
              <a:rPr kumimoji="1" lang="ja-JP" altLang="en-US" dirty="0"/>
              <a:t>操作</a:t>
            </a:r>
            <a:endParaRPr kumimoji="1" lang="en-US" altLang="ja-JP" dirty="0"/>
          </a:p>
          <a:p>
            <a:pPr marL="514350" indent="-514350">
              <a:buAutoNum type="arabicPeriod"/>
            </a:pPr>
            <a:r>
              <a:rPr kumimoji="1" lang="ja-JP" altLang="en-US" dirty="0"/>
              <a:t>例外処理</a:t>
            </a:r>
          </a:p>
          <a:p>
            <a:endParaRPr kumimoji="1" lang="en-US" altLang="ja-JP" dirty="0"/>
          </a:p>
          <a:p>
            <a:pPr marL="0" indent="0">
              <a:buNone/>
            </a:pPr>
            <a:r>
              <a:rPr kumimoji="1" lang="ja-JP" altLang="en-US" dirty="0"/>
              <a:t>補遺 </a:t>
            </a:r>
            <a:r>
              <a:rPr kumimoji="1" lang="en-US" altLang="ja-JP" dirty="0"/>
              <a:t>1 : </a:t>
            </a:r>
            <a:r>
              <a:rPr kumimoji="1" lang="ja-JP" altLang="en-US" dirty="0"/>
              <a:t>前提及び受講前の準備</a:t>
            </a:r>
            <a:endParaRPr kumimoji="1" lang="en-US" altLang="ja-JP" dirty="0"/>
          </a:p>
          <a:p>
            <a:pPr marL="0" indent="0">
              <a:buNone/>
            </a:pPr>
            <a:r>
              <a:rPr kumimoji="1" lang="ja-JP" altLang="en-US" dirty="0"/>
              <a:t>補遺 </a:t>
            </a:r>
            <a:r>
              <a:rPr kumimoji="1" lang="en-US" altLang="ja-JP" dirty="0"/>
              <a:t>2 : </a:t>
            </a:r>
            <a:r>
              <a:rPr kumimoji="1" lang="ja-JP" altLang="en-US" dirty="0"/>
              <a:t>参考文献</a:t>
            </a:r>
            <a:endParaRPr kumimoji="1" lang="en-US" altLang="ja-JP" dirty="0"/>
          </a:p>
          <a:p>
            <a:pPr marL="0" indent="0">
              <a:buNone/>
            </a:pPr>
            <a:r>
              <a:rPr kumimoji="1" lang="ja-JP" altLang="en-US" dirty="0"/>
              <a:t>補遺 </a:t>
            </a:r>
            <a:r>
              <a:rPr kumimoji="1" lang="en-US" altLang="ja-JP" dirty="0"/>
              <a:t>3 : </a:t>
            </a:r>
            <a:r>
              <a:rPr kumimoji="1" lang="ja-JP" altLang="en-US" dirty="0"/>
              <a:t>講師紹介</a:t>
            </a:r>
          </a:p>
          <a:p>
            <a:endParaRPr kumimoji="1" lang="ja-JP" altLang="en-US" dirty="0"/>
          </a:p>
          <a:p>
            <a:endParaRPr kumimoji="1" lang="ja-JP" altLang="en-US" dirty="0"/>
          </a:p>
        </p:txBody>
      </p:sp>
    </p:spTree>
    <p:extLst>
      <p:ext uri="{BB962C8B-B14F-4D97-AF65-F5344CB8AC3E}">
        <p14:creationId xmlns:p14="http://schemas.microsoft.com/office/powerpoint/2010/main" val="2839857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ja-JP" dirty="0"/>
              <a:t>Learning Objectives :</a:t>
            </a:r>
            <a:endParaRPr dirty="0"/>
          </a:p>
        </p:txBody>
      </p:sp>
      <p:sp>
        <p:nvSpPr>
          <p:cNvPr id="3" name="Content Placeholder 2"/>
          <p:cNvSpPr>
            <a:spLocks noGrp="1"/>
          </p:cNvSpPr>
          <p:nvPr>
            <p:ph idx="1"/>
          </p:nvPr>
        </p:nvSpPr>
        <p:spPr/>
        <p:txBody>
          <a:bodyPr/>
          <a:lstStyle/>
          <a:p>
            <a:pPr marL="0" indent="0">
              <a:buNone/>
            </a:pPr>
            <a:r>
              <a:rPr lang="ja-JP" altLang="en-US" dirty="0"/>
              <a:t>・ </a:t>
            </a:r>
            <a:r>
              <a:rPr lang="en-US" altLang="ja-JP" dirty="0"/>
              <a:t>Web Contents </a:t>
            </a:r>
            <a:r>
              <a:rPr lang="ja-JP" altLang="en-US" dirty="0"/>
              <a:t>を通じたプログラミングの基礎</a:t>
            </a:r>
            <a:endParaRPr lang="en-US" altLang="ja-JP" dirty="0"/>
          </a:p>
          <a:p>
            <a:pPr marL="0" indent="0">
              <a:buNone/>
            </a:pPr>
            <a:r>
              <a:rPr lang="ja-JP" altLang="en-US" dirty="0"/>
              <a:t>・ 以下の知識の理解</a:t>
            </a:r>
            <a:endParaRPr lang="en-US" altLang="ja-JP" dirty="0"/>
          </a:p>
          <a:p>
            <a:pPr marL="0" indent="0">
              <a:buNone/>
            </a:pPr>
            <a:r>
              <a:rPr lang="en-US" altLang="ja-JP" dirty="0"/>
              <a:t>	* </a:t>
            </a:r>
            <a:r>
              <a:rPr lang="ja-JP" altLang="en-US" dirty="0"/>
              <a:t>プログラミングの共通した構成要素</a:t>
            </a:r>
            <a:endParaRPr lang="en-US" altLang="ja-JP" dirty="0"/>
          </a:p>
          <a:p>
            <a:pPr marL="0" indent="0">
              <a:buNone/>
            </a:pPr>
            <a:r>
              <a:rPr lang="en-US" altLang="ja-JP" dirty="0"/>
              <a:t>	* </a:t>
            </a:r>
            <a:r>
              <a:rPr lang="ja-JP" altLang="en-US" dirty="0"/>
              <a:t>実行環境</a:t>
            </a:r>
            <a:endParaRPr lang="en-US" altLang="ja-JP" dirty="0"/>
          </a:p>
          <a:p>
            <a:pPr marL="0" indent="0">
              <a:buNone/>
            </a:pPr>
            <a:r>
              <a:rPr lang="en-US" altLang="ja-JP" dirty="0"/>
              <a:t>	* Web Application </a:t>
            </a:r>
            <a:r>
              <a:rPr lang="ja-JP" altLang="en-US" dirty="0"/>
              <a:t>の基礎</a:t>
            </a:r>
            <a:endParaRPr lang="en-US" altLang="ja-JP" dirty="0"/>
          </a:p>
          <a:p>
            <a:pPr marL="0" indent="0">
              <a:buNone/>
            </a:pPr>
            <a:r>
              <a:rPr lang="en-US" altLang="ja-JP" dirty="0"/>
              <a:t>	* Exception (</a:t>
            </a:r>
            <a:r>
              <a:rPr lang="ja-JP" altLang="en-US" dirty="0"/>
              <a:t>例外</a:t>
            </a:r>
            <a:r>
              <a:rPr lang="en-US" altLang="ja-JP" dirty="0"/>
              <a:t>) </a:t>
            </a:r>
            <a:r>
              <a:rPr lang="ja-JP" altLang="en-US" dirty="0"/>
              <a:t>とその対処の必要性</a:t>
            </a:r>
            <a:endParaRPr lang="en-US" altLang="ja-JP" dirty="0"/>
          </a:p>
          <a:p>
            <a:pPr marL="0" indent="0">
              <a:buNone/>
            </a:pPr>
            <a:endParaRPr lang="en-US" altLang="ja-JP" dirty="0"/>
          </a:p>
          <a:p>
            <a:pPr marL="0" indent="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ja-JP" dirty="0"/>
              <a:t>Introduction</a:t>
            </a:r>
            <a:endParaRPr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64539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ja-JP" altLang="en-US" dirty="0"/>
              <a:t>プログラミングとは何か</a:t>
            </a:r>
          </a:p>
        </p:txBody>
      </p:sp>
      <p:sp>
        <p:nvSpPr>
          <p:cNvPr id="6" name="Content Placeholder 2">
            <a:extLst>
              <a:ext uri="{FF2B5EF4-FFF2-40B4-BE49-F238E27FC236}">
                <a16:creationId xmlns:a16="http://schemas.microsoft.com/office/drawing/2014/main" id="{EA5437E1-F59C-0F0F-FFB3-6CA27C1AF165}"/>
              </a:ext>
            </a:extLst>
          </p:cNvPr>
          <p:cNvSpPr txBox="1">
            <a:spLocks/>
          </p:cNvSpPr>
          <p:nvPr/>
        </p:nvSpPr>
        <p:spPr>
          <a:xfrm>
            <a:off x="609600" y="3857391"/>
            <a:ext cx="7903029" cy="64539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ja-JP" altLang="en-US" dirty="0"/>
              <a:t>プログラミングの重要性と応用例</a:t>
            </a:r>
          </a:p>
        </p:txBody>
      </p:sp>
      <p:sp>
        <p:nvSpPr>
          <p:cNvPr id="9" name="Content Placeholder 2">
            <a:extLst>
              <a:ext uri="{FF2B5EF4-FFF2-40B4-BE49-F238E27FC236}">
                <a16:creationId xmlns:a16="http://schemas.microsoft.com/office/drawing/2014/main" id="{CB25E8C2-14F0-92EF-2587-B2E4A96DC705}"/>
              </a:ext>
            </a:extLst>
          </p:cNvPr>
          <p:cNvSpPr txBox="1">
            <a:spLocks/>
          </p:cNvSpPr>
          <p:nvPr/>
        </p:nvSpPr>
        <p:spPr>
          <a:xfrm>
            <a:off x="609600" y="2096393"/>
            <a:ext cx="7973466" cy="1684152"/>
          </a:xfrm>
          <a:prstGeom prst="rect">
            <a:avLst/>
          </a:prstGeom>
          <a:solidFill>
            <a:schemeClr val="accent1">
              <a:lumMod val="20000"/>
              <a:lumOff val="80000"/>
            </a:schemeClr>
          </a:solidFill>
          <a:ln>
            <a:solidFill>
              <a:schemeClr val="accent1"/>
            </a:solidFill>
          </a:ln>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ja-JP" altLang="en-US" dirty="0"/>
          </a:p>
        </p:txBody>
      </p:sp>
      <p:sp>
        <p:nvSpPr>
          <p:cNvPr id="10" name="Content Placeholder 2">
            <a:extLst>
              <a:ext uri="{FF2B5EF4-FFF2-40B4-BE49-F238E27FC236}">
                <a16:creationId xmlns:a16="http://schemas.microsoft.com/office/drawing/2014/main" id="{63BE5D05-EFC9-585A-4C8C-D9D4156695B9}"/>
              </a:ext>
            </a:extLst>
          </p:cNvPr>
          <p:cNvSpPr txBox="1">
            <a:spLocks/>
          </p:cNvSpPr>
          <p:nvPr/>
        </p:nvSpPr>
        <p:spPr>
          <a:xfrm>
            <a:off x="609600" y="4604625"/>
            <a:ext cx="7973466" cy="168415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ja-JP" altLang="en-US" dirty="0"/>
          </a:p>
        </p:txBody>
      </p:sp>
      <p:sp>
        <p:nvSpPr>
          <p:cNvPr id="3" name="Content Placeholder 2">
            <a:extLst>
              <a:ext uri="{FF2B5EF4-FFF2-40B4-BE49-F238E27FC236}">
                <a16:creationId xmlns:a16="http://schemas.microsoft.com/office/drawing/2014/main" id="{3601A968-4070-DAD5-9C9C-7EF80A5389D3}"/>
              </a:ext>
            </a:extLst>
          </p:cNvPr>
          <p:cNvSpPr txBox="1">
            <a:spLocks/>
          </p:cNvSpPr>
          <p:nvPr/>
        </p:nvSpPr>
        <p:spPr>
          <a:xfrm>
            <a:off x="609600" y="4484785"/>
            <a:ext cx="7973466" cy="1684152"/>
          </a:xfrm>
          <a:prstGeom prst="rect">
            <a:avLst/>
          </a:prstGeom>
          <a:solidFill>
            <a:schemeClr val="accent1">
              <a:lumMod val="20000"/>
              <a:lumOff val="80000"/>
            </a:schemeClr>
          </a:solidFill>
          <a:ln>
            <a:solidFill>
              <a:schemeClr val="accent1"/>
            </a:solidFill>
          </a:ln>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ja-JP" altLang="en-US" dirty="0"/>
          </a:p>
        </p:txBody>
      </p:sp>
    </p:spTree>
    <p:extLst>
      <p:ext uri="{BB962C8B-B14F-4D97-AF65-F5344CB8AC3E}">
        <p14:creationId xmlns:p14="http://schemas.microsoft.com/office/powerpoint/2010/main" val="3757188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14350" indent="-514350" algn="l">
              <a:buAutoNum type="arabicPeriod"/>
            </a:pPr>
            <a:r>
              <a:rPr kumimoji="1" lang="en-US" altLang="ja-JP" dirty="0"/>
              <a:t>Browser </a:t>
            </a:r>
            <a:r>
              <a:rPr kumimoji="1" lang="ja-JP" altLang="en-US" dirty="0"/>
              <a:t>と </a:t>
            </a:r>
            <a:r>
              <a:rPr kumimoji="1" lang="en-US" altLang="ja-JP" dirty="0"/>
              <a:t>Html</a:t>
            </a:r>
          </a:p>
        </p:txBody>
      </p:sp>
      <p:sp>
        <p:nvSpPr>
          <p:cNvPr id="4" name="Content Placeholder 2">
            <a:extLst>
              <a:ext uri="{FF2B5EF4-FFF2-40B4-BE49-F238E27FC236}">
                <a16:creationId xmlns:a16="http://schemas.microsoft.com/office/drawing/2014/main" id="{A7C4AB37-56F6-D902-FDD3-83C2048E46A6}"/>
              </a:ext>
            </a:extLst>
          </p:cNvPr>
          <p:cNvSpPr txBox="1">
            <a:spLocks/>
          </p:cNvSpPr>
          <p:nvPr/>
        </p:nvSpPr>
        <p:spPr>
          <a:xfrm>
            <a:off x="457200" y="4755138"/>
            <a:ext cx="7903029" cy="138312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ja-JP" altLang="en-US" dirty="0">
              <a:latin typeface="+mj-lt"/>
            </a:endParaRPr>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64539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ja-JP" dirty="0"/>
              <a:t>Web Browser (</a:t>
            </a:r>
            <a:r>
              <a:rPr lang="ja-JP" altLang="en-US" dirty="0"/>
              <a:t>通称 </a:t>
            </a:r>
            <a:r>
              <a:rPr lang="en-US" altLang="ja-JP" dirty="0"/>
              <a:t>Browser)</a:t>
            </a:r>
            <a:endParaRPr lang="ja-JP" altLang="en-US" dirty="0"/>
          </a:p>
        </p:txBody>
      </p:sp>
      <p:sp>
        <p:nvSpPr>
          <p:cNvPr id="9" name="Content Placeholder 2">
            <a:extLst>
              <a:ext uri="{FF2B5EF4-FFF2-40B4-BE49-F238E27FC236}">
                <a16:creationId xmlns:a16="http://schemas.microsoft.com/office/drawing/2014/main" id="{CB25E8C2-14F0-92EF-2587-B2E4A96DC705}"/>
              </a:ext>
            </a:extLst>
          </p:cNvPr>
          <p:cNvSpPr txBox="1">
            <a:spLocks/>
          </p:cNvSpPr>
          <p:nvPr/>
        </p:nvSpPr>
        <p:spPr>
          <a:xfrm>
            <a:off x="609600" y="2096393"/>
            <a:ext cx="7973466" cy="265874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dirty="0"/>
              <a:t>Browser = Browse (</a:t>
            </a:r>
            <a:r>
              <a:rPr lang="ja-JP" altLang="en-US" dirty="0"/>
              <a:t>閲覧する</a:t>
            </a:r>
            <a:r>
              <a:rPr lang="en-US" altLang="ja-JP" dirty="0"/>
              <a:t>) </a:t>
            </a:r>
            <a:r>
              <a:rPr lang="ja-JP" altLang="en-US" dirty="0"/>
              <a:t>もの</a:t>
            </a:r>
            <a:endParaRPr lang="en-US" altLang="ja-JP" dirty="0"/>
          </a:p>
          <a:p>
            <a:pPr marL="0" indent="0">
              <a:buNone/>
            </a:pPr>
            <a:r>
              <a:rPr lang="en-US" altLang="ja-JP" dirty="0"/>
              <a:t> </a:t>
            </a:r>
            <a:r>
              <a:rPr lang="ja-JP" altLang="en-US" dirty="0"/>
              <a:t>→ </a:t>
            </a:r>
            <a:r>
              <a:rPr lang="en-US" altLang="ja-JP" dirty="0"/>
              <a:t>HTML / CSS </a:t>
            </a:r>
            <a:r>
              <a:rPr lang="ja-JP" altLang="en-US" dirty="0"/>
              <a:t>で構成されている </a:t>
            </a:r>
            <a:r>
              <a:rPr lang="en-US" altLang="ja-JP" dirty="0"/>
              <a:t>Web site </a:t>
            </a:r>
            <a:r>
              <a:rPr lang="ja-JP" altLang="en-US" dirty="0"/>
              <a:t>を</a:t>
            </a:r>
            <a:endParaRPr lang="en-US" altLang="ja-JP" dirty="0"/>
          </a:p>
          <a:p>
            <a:pPr marL="0" indent="0">
              <a:buNone/>
            </a:pPr>
            <a:r>
              <a:rPr lang="en-US" altLang="ja-JP" dirty="0"/>
              <a:t>     </a:t>
            </a:r>
            <a:r>
              <a:rPr lang="ja-JP" altLang="en-US" dirty="0"/>
              <a:t>解釈・変換し、人間の閲覧に適した形に</a:t>
            </a:r>
            <a:endParaRPr lang="en-US" altLang="ja-JP" dirty="0"/>
          </a:p>
          <a:p>
            <a:pPr marL="0" indent="0">
              <a:buNone/>
            </a:pPr>
            <a:r>
              <a:rPr lang="ja-JP" altLang="en-US" dirty="0"/>
              <a:t>     表示するツールの総称</a:t>
            </a:r>
            <a:r>
              <a:rPr lang="en-US" altLang="ja-JP" dirty="0"/>
              <a:t>  </a:t>
            </a:r>
          </a:p>
          <a:p>
            <a:pPr marL="0" indent="0">
              <a:buNone/>
            </a:pPr>
            <a:endParaRPr lang="ja-JP" altLang="en-US" dirty="0"/>
          </a:p>
        </p:txBody>
      </p:sp>
      <p:pic>
        <p:nvPicPr>
          <p:cNvPr id="1034" name="Picture 10" descr="Apps google chrome Icon | FS Ubuntu Iconpack | franksouza183">
            <a:extLst>
              <a:ext uri="{FF2B5EF4-FFF2-40B4-BE49-F238E27FC236}">
                <a16:creationId xmlns:a16="http://schemas.microsoft.com/office/drawing/2014/main" id="{F8AD6F0C-5950-EFA8-A981-80A7E765AE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771" y="4742329"/>
            <a:ext cx="1383127" cy="138312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76DEE4FE-358A-A71A-9671-E849301E08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5413" y="4809166"/>
            <a:ext cx="1275069" cy="127506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Mozilla Firefox - Wikipedia">
            <a:extLst>
              <a:ext uri="{FF2B5EF4-FFF2-40B4-BE49-F238E27FC236}">
                <a16:creationId xmlns:a16="http://schemas.microsoft.com/office/drawing/2014/main" id="{F8749419-552B-43F1-C2B2-6B5075971F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7615" y="4742328"/>
            <a:ext cx="1328769" cy="138312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B0F8B4AF-4A3E-5DC5-F25A-4AB01B1F65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57293" y="4809166"/>
            <a:ext cx="1389300" cy="1383125"/>
          </a:xfrm>
          <a:prstGeom prst="rect">
            <a:avLst/>
          </a:prstGeom>
          <a:noFill/>
          <a:extLst>
            <a:ext uri="{909E8E84-426E-40DD-AFC4-6F175D3DCCD1}">
              <a14:hiddenFill xmlns:a14="http://schemas.microsoft.com/office/drawing/2010/main">
                <a:solidFill>
                  <a:srgbClr val="FFFFFF"/>
                </a:solidFill>
              </a14:hiddenFill>
            </a:ext>
          </a:extLst>
        </p:spPr>
      </p:pic>
      <p:pic>
        <p:nvPicPr>
          <p:cNvPr id="11" name="図 10">
            <a:extLst>
              <a:ext uri="{FF2B5EF4-FFF2-40B4-BE49-F238E27FC236}">
                <a16:creationId xmlns:a16="http://schemas.microsoft.com/office/drawing/2014/main" id="{9AC14EFF-B2E5-F9B9-7B0F-61BCD8E40EE4}"/>
              </a:ext>
            </a:extLst>
          </p:cNvPr>
          <p:cNvPicPr>
            <a:picLocks noChangeAspect="1"/>
          </p:cNvPicPr>
          <p:nvPr/>
        </p:nvPicPr>
        <p:blipFill>
          <a:blip r:embed="rId6"/>
          <a:stretch>
            <a:fillRect/>
          </a:stretch>
        </p:blipFill>
        <p:spPr>
          <a:xfrm>
            <a:off x="7106843" y="4762939"/>
            <a:ext cx="1321420" cy="1341907"/>
          </a:xfrm>
          <a:prstGeom prst="rect">
            <a:avLst/>
          </a:prstGeom>
        </p:spPr>
      </p:pic>
    </p:spTree>
    <p:extLst>
      <p:ext uri="{BB962C8B-B14F-4D97-AF65-F5344CB8AC3E}">
        <p14:creationId xmlns:p14="http://schemas.microsoft.com/office/powerpoint/2010/main" val="554121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14350" indent="-514350" algn="l">
              <a:buAutoNum type="arabicPeriod"/>
            </a:pPr>
            <a:r>
              <a:rPr kumimoji="1" lang="en-US" altLang="ja-JP" dirty="0"/>
              <a:t>Browser </a:t>
            </a:r>
            <a:r>
              <a:rPr kumimoji="1" lang="ja-JP" altLang="en-US" dirty="0"/>
              <a:t>と </a:t>
            </a:r>
            <a:r>
              <a:rPr kumimoji="1" lang="en-US" altLang="ja-JP" dirty="0"/>
              <a:t>Html</a:t>
            </a:r>
          </a:p>
        </p:txBody>
      </p:sp>
      <p:sp>
        <p:nvSpPr>
          <p:cNvPr id="4" name="Content Placeholder 2">
            <a:extLst>
              <a:ext uri="{FF2B5EF4-FFF2-40B4-BE49-F238E27FC236}">
                <a16:creationId xmlns:a16="http://schemas.microsoft.com/office/drawing/2014/main" id="{A7C4AB37-56F6-D902-FDD3-83C2048E46A6}"/>
              </a:ext>
            </a:extLst>
          </p:cNvPr>
          <p:cNvSpPr txBox="1">
            <a:spLocks/>
          </p:cNvSpPr>
          <p:nvPr/>
        </p:nvSpPr>
        <p:spPr>
          <a:xfrm>
            <a:off x="586548" y="6566899"/>
            <a:ext cx="4109677" cy="291285"/>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sz="1200" dirty="0">
                <a:hlinkClick r:id="rId2"/>
              </a:rPr>
              <a:t>F Inc. (00f.jp)</a:t>
            </a:r>
            <a:endParaRPr lang="ja-JP" altLang="en-US" sz="1200" dirty="0">
              <a:latin typeface="+mj-lt"/>
            </a:endParaRPr>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64539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ja-JP" dirty="0"/>
              <a:t>HTML (Hyper text markup language)</a:t>
            </a:r>
            <a:endParaRPr lang="ja-JP" altLang="en-US" dirty="0"/>
          </a:p>
        </p:txBody>
      </p:sp>
      <p:sp>
        <p:nvSpPr>
          <p:cNvPr id="9" name="Content Placeholder 2">
            <a:extLst>
              <a:ext uri="{FF2B5EF4-FFF2-40B4-BE49-F238E27FC236}">
                <a16:creationId xmlns:a16="http://schemas.microsoft.com/office/drawing/2014/main" id="{CB25E8C2-14F0-92EF-2587-B2E4A96DC705}"/>
              </a:ext>
            </a:extLst>
          </p:cNvPr>
          <p:cNvSpPr txBox="1">
            <a:spLocks/>
          </p:cNvSpPr>
          <p:nvPr/>
        </p:nvSpPr>
        <p:spPr>
          <a:xfrm>
            <a:off x="609600" y="2096393"/>
            <a:ext cx="8229600" cy="188393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現行での </a:t>
            </a:r>
            <a:r>
              <a:rPr lang="en-US" altLang="ja-JP" dirty="0"/>
              <a:t>Web site </a:t>
            </a:r>
            <a:r>
              <a:rPr lang="ja-JP" altLang="en-US" dirty="0"/>
              <a:t>を構成する標準の書式。</a:t>
            </a:r>
            <a:endParaRPr lang="en-US" altLang="ja-JP" dirty="0"/>
          </a:p>
          <a:p>
            <a:pPr marL="0" indent="0">
              <a:buNone/>
            </a:pPr>
            <a:r>
              <a:rPr lang="en-US" altLang="ja-JP" dirty="0"/>
              <a:t>“&lt;sample&gt;&lt;/sample&gt;” </a:t>
            </a:r>
            <a:r>
              <a:rPr lang="ja-JP" altLang="en-US" dirty="0"/>
              <a:t>等であらわされるような </a:t>
            </a:r>
            <a:r>
              <a:rPr lang="en-US" altLang="ja-JP" dirty="0"/>
              <a:t>“</a:t>
            </a:r>
            <a:r>
              <a:rPr lang="ja-JP" altLang="en-US" dirty="0"/>
              <a:t>タグ</a:t>
            </a:r>
            <a:r>
              <a:rPr lang="en-US" altLang="ja-JP" dirty="0"/>
              <a:t>” </a:t>
            </a:r>
            <a:r>
              <a:rPr lang="ja-JP" altLang="en-US" dirty="0"/>
              <a:t>と呼ばれる書式を入れ子にして構成する。 </a:t>
            </a:r>
            <a:endParaRPr lang="en-US" altLang="ja-JP" dirty="0"/>
          </a:p>
          <a:p>
            <a:pPr marL="0" indent="0">
              <a:buNone/>
            </a:pPr>
            <a:endParaRPr lang="en-US" altLang="ja-JP" dirty="0"/>
          </a:p>
        </p:txBody>
      </p:sp>
      <p:pic>
        <p:nvPicPr>
          <p:cNvPr id="6" name="図 5">
            <a:extLst>
              <a:ext uri="{FF2B5EF4-FFF2-40B4-BE49-F238E27FC236}">
                <a16:creationId xmlns:a16="http://schemas.microsoft.com/office/drawing/2014/main" id="{062A58F3-5F04-9D90-4C4A-DF1AA6C80B15}"/>
              </a:ext>
            </a:extLst>
          </p:cNvPr>
          <p:cNvPicPr>
            <a:picLocks noChangeAspect="1"/>
          </p:cNvPicPr>
          <p:nvPr/>
        </p:nvPicPr>
        <p:blipFill>
          <a:blip r:embed="rId3"/>
          <a:stretch>
            <a:fillRect/>
          </a:stretch>
        </p:blipFill>
        <p:spPr>
          <a:xfrm>
            <a:off x="4724400" y="3980329"/>
            <a:ext cx="3957277" cy="2662703"/>
          </a:xfrm>
          <a:prstGeom prst="rect">
            <a:avLst/>
          </a:prstGeom>
        </p:spPr>
      </p:pic>
      <p:pic>
        <p:nvPicPr>
          <p:cNvPr id="8" name="図 7">
            <a:extLst>
              <a:ext uri="{FF2B5EF4-FFF2-40B4-BE49-F238E27FC236}">
                <a16:creationId xmlns:a16="http://schemas.microsoft.com/office/drawing/2014/main" id="{6939DFFC-36B8-E0F4-74C7-404E96B7C963}"/>
              </a:ext>
            </a:extLst>
          </p:cNvPr>
          <p:cNvPicPr>
            <a:picLocks noChangeAspect="1"/>
          </p:cNvPicPr>
          <p:nvPr/>
        </p:nvPicPr>
        <p:blipFill>
          <a:blip r:embed="rId4"/>
          <a:stretch>
            <a:fillRect/>
          </a:stretch>
        </p:blipFill>
        <p:spPr>
          <a:xfrm>
            <a:off x="609600" y="3832218"/>
            <a:ext cx="3471211" cy="2810814"/>
          </a:xfrm>
          <a:prstGeom prst="rect">
            <a:avLst/>
          </a:prstGeom>
        </p:spPr>
      </p:pic>
    </p:spTree>
    <p:extLst>
      <p:ext uri="{BB962C8B-B14F-4D97-AF65-F5344CB8AC3E}">
        <p14:creationId xmlns:p14="http://schemas.microsoft.com/office/powerpoint/2010/main" val="947267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2. Html </a:t>
            </a:r>
            <a:r>
              <a:rPr kumimoji="1" lang="ja-JP" altLang="en-US" dirty="0"/>
              <a:t>における </a:t>
            </a:r>
            <a:r>
              <a:rPr kumimoji="1" lang="en-US" altLang="ja-JP" dirty="0"/>
              <a:t>Object</a:t>
            </a:r>
            <a:r>
              <a:rPr kumimoji="1" lang="ja-JP" altLang="en-US" dirty="0"/>
              <a:t> の配置</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436132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○手順</a:t>
            </a:r>
            <a:endParaRPr lang="en-US" altLang="ja-JP" dirty="0"/>
          </a:p>
          <a:p>
            <a:pPr marL="514350" indent="-514350">
              <a:buFont typeface="+mj-lt"/>
              <a:buAutoNum type="arabicPeriod"/>
            </a:pPr>
            <a:r>
              <a:rPr lang="ja-JP" altLang="en-US" dirty="0"/>
              <a:t>新規にファイルを作成する</a:t>
            </a:r>
            <a:endParaRPr lang="en-US" altLang="ja-JP" dirty="0"/>
          </a:p>
          <a:p>
            <a:pPr marL="514350" indent="-514350">
              <a:buFont typeface="+mj-lt"/>
              <a:buAutoNum type="arabicPeriod"/>
            </a:pPr>
            <a:r>
              <a:rPr lang="ja-JP" altLang="en-US" dirty="0"/>
              <a:t>ファイル内に必要なタグを記述する</a:t>
            </a:r>
            <a:endParaRPr lang="en-US" altLang="ja-JP" dirty="0"/>
          </a:p>
          <a:p>
            <a:pPr marL="514350" indent="-514350">
              <a:buFont typeface="+mj-lt"/>
              <a:buAutoNum type="arabicPeriod"/>
            </a:pPr>
            <a:r>
              <a:rPr lang="ja-JP" altLang="en-US" dirty="0"/>
              <a:t>ブラウザで開き内容を確認する</a:t>
            </a:r>
          </a:p>
        </p:txBody>
      </p:sp>
    </p:spTree>
    <p:extLst>
      <p:ext uri="{BB962C8B-B14F-4D97-AF65-F5344CB8AC3E}">
        <p14:creationId xmlns:p14="http://schemas.microsoft.com/office/powerpoint/2010/main" val="929232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2. Html </a:t>
            </a:r>
            <a:r>
              <a:rPr kumimoji="1" lang="ja-JP" altLang="en-US" dirty="0"/>
              <a:t>における </a:t>
            </a:r>
            <a:r>
              <a:rPr kumimoji="1" lang="en-US" altLang="ja-JP" dirty="0"/>
              <a:t>Object</a:t>
            </a:r>
            <a:r>
              <a:rPr kumimoji="1" lang="ja-JP" altLang="en-US" dirty="0"/>
              <a:t> の配置</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244338"/>
            <a:ext cx="7973466" cy="456798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514350" indent="-514350">
              <a:buFont typeface="+mj-lt"/>
              <a:buAutoNum type="arabicPeriod"/>
            </a:pPr>
            <a:r>
              <a:rPr lang="ja-JP" altLang="en-US" dirty="0"/>
              <a:t>新規にファイルを作成する</a:t>
            </a:r>
            <a:endParaRPr lang="en-US" altLang="ja-JP" dirty="0"/>
          </a:p>
          <a:p>
            <a:pPr marL="0" indent="0">
              <a:buNone/>
            </a:pPr>
            <a:endParaRPr lang="en-US" altLang="ja-JP" sz="2400" dirty="0"/>
          </a:p>
          <a:p>
            <a:pPr marL="0" indent="0">
              <a:buNone/>
            </a:pPr>
            <a:r>
              <a:rPr lang="ja-JP" altLang="en-US" sz="2400" dirty="0"/>
              <a:t>① 右クリック、 </a:t>
            </a:r>
            <a:r>
              <a:rPr lang="en-US" altLang="ja-JP" sz="2400" dirty="0"/>
              <a:t>[</a:t>
            </a:r>
            <a:r>
              <a:rPr lang="ja-JP" altLang="en-US" sz="2400" dirty="0"/>
              <a:t>新規作成</a:t>
            </a:r>
            <a:r>
              <a:rPr lang="en-US" altLang="ja-JP" sz="2400" dirty="0"/>
              <a:t>] – [</a:t>
            </a:r>
            <a:r>
              <a:rPr lang="ja-JP" altLang="en-US" sz="2400" dirty="0"/>
              <a:t>テキスト ドキュメント</a:t>
            </a:r>
            <a:r>
              <a:rPr lang="en-US" altLang="ja-JP" sz="2400" dirty="0"/>
              <a:t>] </a:t>
            </a:r>
            <a:r>
              <a:rPr lang="ja-JP" altLang="en-US" sz="2400" dirty="0"/>
              <a:t>を選択</a:t>
            </a:r>
            <a:endParaRPr lang="en-US" altLang="ja-JP" sz="2400" dirty="0"/>
          </a:p>
          <a:p>
            <a:pPr marL="0" indent="0">
              <a:buNone/>
            </a:pPr>
            <a:r>
              <a:rPr lang="ja-JP" altLang="en-US" sz="2400" dirty="0"/>
              <a:t>② </a:t>
            </a:r>
            <a:r>
              <a:rPr lang="en-US" altLang="ja-JP" sz="2400" dirty="0"/>
              <a:t>“</a:t>
            </a:r>
            <a:r>
              <a:rPr lang="ja-JP" altLang="en-US" sz="2400" dirty="0"/>
              <a:t>新規テキスト ドキュメント</a:t>
            </a:r>
            <a:r>
              <a:rPr lang="en-US" altLang="ja-JP" sz="2400" dirty="0"/>
              <a:t>.txt” </a:t>
            </a:r>
            <a:r>
              <a:rPr lang="ja-JP" altLang="en-US" sz="2400" dirty="0"/>
              <a:t>を</a:t>
            </a:r>
            <a:r>
              <a:rPr lang="en-US" altLang="ja-JP" sz="2400" dirty="0"/>
              <a:t> “sample.htm” </a:t>
            </a:r>
            <a:r>
              <a:rPr lang="ja-JP" altLang="en-US" sz="2400" dirty="0"/>
              <a:t>に変更</a:t>
            </a:r>
            <a:endParaRPr lang="en-US" altLang="ja-JP" sz="2400" dirty="0"/>
          </a:p>
          <a:p>
            <a:pPr marL="0" indent="0">
              <a:buNone/>
            </a:pPr>
            <a:r>
              <a:rPr lang="ja-JP" altLang="en-US" sz="2400" dirty="0"/>
              <a:t>③ ダイアログにて</a:t>
            </a:r>
            <a:r>
              <a:rPr lang="en-US" altLang="ja-JP" sz="2400" dirty="0"/>
              <a:t>“</a:t>
            </a:r>
            <a:r>
              <a:rPr lang="ja-JP" altLang="en-US" sz="2400" dirty="0"/>
              <a:t>はい</a:t>
            </a:r>
            <a:r>
              <a:rPr lang="en-US" altLang="ja-JP" sz="2400" dirty="0"/>
              <a:t>” </a:t>
            </a:r>
            <a:r>
              <a:rPr lang="ja-JP" altLang="en-US" sz="2400" dirty="0"/>
              <a:t>を選択</a:t>
            </a:r>
            <a:endParaRPr lang="en-US" altLang="ja-JP" sz="2400" dirty="0"/>
          </a:p>
          <a:p>
            <a:pPr marL="0" indent="0">
              <a:buNone/>
            </a:pPr>
            <a:r>
              <a:rPr lang="ja-JP" altLang="en-US" sz="2400" dirty="0"/>
              <a:t>④ ファイル作成完了</a:t>
            </a:r>
          </a:p>
        </p:txBody>
      </p:sp>
      <p:pic>
        <p:nvPicPr>
          <p:cNvPr id="4" name="図 3">
            <a:extLst>
              <a:ext uri="{FF2B5EF4-FFF2-40B4-BE49-F238E27FC236}">
                <a16:creationId xmlns:a16="http://schemas.microsoft.com/office/drawing/2014/main" id="{DD6B2EF1-6041-150B-E7F7-1A1922C3AB0F}"/>
              </a:ext>
            </a:extLst>
          </p:cNvPr>
          <p:cNvPicPr>
            <a:picLocks noChangeAspect="1"/>
          </p:cNvPicPr>
          <p:nvPr/>
        </p:nvPicPr>
        <p:blipFill>
          <a:blip r:embed="rId2"/>
          <a:stretch>
            <a:fillRect/>
          </a:stretch>
        </p:blipFill>
        <p:spPr>
          <a:xfrm>
            <a:off x="615269" y="4076845"/>
            <a:ext cx="3087627" cy="2506517"/>
          </a:xfrm>
          <a:prstGeom prst="rect">
            <a:avLst/>
          </a:prstGeom>
        </p:spPr>
      </p:pic>
      <p:pic>
        <p:nvPicPr>
          <p:cNvPr id="7" name="図 6">
            <a:extLst>
              <a:ext uri="{FF2B5EF4-FFF2-40B4-BE49-F238E27FC236}">
                <a16:creationId xmlns:a16="http://schemas.microsoft.com/office/drawing/2014/main" id="{7F37D619-71F0-E89E-9889-AD86BE8422DC}"/>
              </a:ext>
            </a:extLst>
          </p:cNvPr>
          <p:cNvPicPr>
            <a:picLocks noChangeAspect="1"/>
          </p:cNvPicPr>
          <p:nvPr/>
        </p:nvPicPr>
        <p:blipFill>
          <a:blip r:embed="rId3"/>
          <a:stretch>
            <a:fillRect/>
          </a:stretch>
        </p:blipFill>
        <p:spPr>
          <a:xfrm>
            <a:off x="4104966" y="4076845"/>
            <a:ext cx="1524213" cy="1076475"/>
          </a:xfrm>
          <a:prstGeom prst="rect">
            <a:avLst/>
          </a:prstGeom>
        </p:spPr>
      </p:pic>
      <p:pic>
        <p:nvPicPr>
          <p:cNvPr id="9" name="図 8">
            <a:extLst>
              <a:ext uri="{FF2B5EF4-FFF2-40B4-BE49-F238E27FC236}">
                <a16:creationId xmlns:a16="http://schemas.microsoft.com/office/drawing/2014/main" id="{84BD84C8-D125-3CFD-640A-4E7A382C6000}"/>
              </a:ext>
            </a:extLst>
          </p:cNvPr>
          <p:cNvPicPr>
            <a:picLocks noChangeAspect="1"/>
          </p:cNvPicPr>
          <p:nvPr/>
        </p:nvPicPr>
        <p:blipFill>
          <a:blip r:embed="rId4"/>
          <a:stretch>
            <a:fillRect/>
          </a:stretch>
        </p:blipFill>
        <p:spPr>
          <a:xfrm>
            <a:off x="6031250" y="4076845"/>
            <a:ext cx="2766767" cy="1124461"/>
          </a:xfrm>
          <a:prstGeom prst="rect">
            <a:avLst/>
          </a:prstGeom>
        </p:spPr>
      </p:pic>
      <p:pic>
        <p:nvPicPr>
          <p:cNvPr id="11" name="図 10">
            <a:extLst>
              <a:ext uri="{FF2B5EF4-FFF2-40B4-BE49-F238E27FC236}">
                <a16:creationId xmlns:a16="http://schemas.microsoft.com/office/drawing/2014/main" id="{98941DAD-CBA9-8633-B3A5-312321E1EFE4}"/>
              </a:ext>
            </a:extLst>
          </p:cNvPr>
          <p:cNvPicPr>
            <a:picLocks noChangeAspect="1"/>
          </p:cNvPicPr>
          <p:nvPr/>
        </p:nvPicPr>
        <p:blipFill>
          <a:blip r:embed="rId5"/>
          <a:stretch>
            <a:fillRect/>
          </a:stretch>
        </p:blipFill>
        <p:spPr>
          <a:xfrm>
            <a:off x="4104966" y="5543388"/>
            <a:ext cx="1238423" cy="933580"/>
          </a:xfrm>
          <a:prstGeom prst="rect">
            <a:avLst/>
          </a:prstGeom>
        </p:spPr>
      </p:pic>
      <p:sp>
        <p:nvSpPr>
          <p:cNvPr id="12" name="正方形/長方形 11">
            <a:extLst>
              <a:ext uri="{FF2B5EF4-FFF2-40B4-BE49-F238E27FC236}">
                <a16:creationId xmlns:a16="http://schemas.microsoft.com/office/drawing/2014/main" id="{0BE7FAAA-B8CA-A4D2-BB0F-FB831851A2E0}"/>
              </a:ext>
            </a:extLst>
          </p:cNvPr>
          <p:cNvSpPr/>
          <p:nvPr/>
        </p:nvSpPr>
        <p:spPr>
          <a:xfrm>
            <a:off x="345983" y="3809549"/>
            <a:ext cx="914400" cy="9144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dirty="0">
                <a:ln w="0"/>
                <a:solidFill>
                  <a:schemeClr val="tx1"/>
                </a:solidFill>
                <a:effectLst>
                  <a:outerShdw blurRad="38100" dist="19050" dir="2700000" algn="tl" rotWithShape="0">
                    <a:schemeClr val="dk1">
                      <a:alpha val="40000"/>
                    </a:schemeClr>
                  </a:outerShdw>
                </a:effectLst>
              </a:rPr>
              <a:t>①</a:t>
            </a:r>
          </a:p>
        </p:txBody>
      </p:sp>
      <p:sp>
        <p:nvSpPr>
          <p:cNvPr id="13" name="正方形/長方形 12">
            <a:extLst>
              <a:ext uri="{FF2B5EF4-FFF2-40B4-BE49-F238E27FC236}">
                <a16:creationId xmlns:a16="http://schemas.microsoft.com/office/drawing/2014/main" id="{AA29B81C-8BC0-6AE0-9267-06BE24DCE6F3}"/>
              </a:ext>
            </a:extLst>
          </p:cNvPr>
          <p:cNvSpPr/>
          <p:nvPr/>
        </p:nvSpPr>
        <p:spPr>
          <a:xfrm>
            <a:off x="3809777" y="3751243"/>
            <a:ext cx="914400" cy="9144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dirty="0">
                <a:ln w="0"/>
                <a:solidFill>
                  <a:schemeClr val="tx1"/>
                </a:solidFill>
                <a:effectLst>
                  <a:outerShdw blurRad="38100" dist="19050" dir="2700000" algn="tl" rotWithShape="0">
                    <a:schemeClr val="dk1">
                      <a:alpha val="40000"/>
                    </a:schemeClr>
                  </a:outerShdw>
                </a:effectLst>
              </a:rPr>
              <a:t>②</a:t>
            </a:r>
          </a:p>
        </p:txBody>
      </p:sp>
      <p:sp>
        <p:nvSpPr>
          <p:cNvPr id="14" name="正方形/長方形 13">
            <a:extLst>
              <a:ext uri="{FF2B5EF4-FFF2-40B4-BE49-F238E27FC236}">
                <a16:creationId xmlns:a16="http://schemas.microsoft.com/office/drawing/2014/main" id="{13BD547E-3CA6-3CDC-A8BF-8E1F7692D025}"/>
              </a:ext>
            </a:extLst>
          </p:cNvPr>
          <p:cNvSpPr/>
          <p:nvPr/>
        </p:nvSpPr>
        <p:spPr>
          <a:xfrm>
            <a:off x="5441106" y="3737804"/>
            <a:ext cx="914400" cy="9144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dirty="0">
                <a:ln w="0"/>
                <a:solidFill>
                  <a:schemeClr val="tx1"/>
                </a:solidFill>
                <a:effectLst>
                  <a:outerShdw blurRad="38100" dist="19050" dir="2700000" algn="tl" rotWithShape="0">
                    <a:schemeClr val="dk1">
                      <a:alpha val="40000"/>
                    </a:schemeClr>
                  </a:outerShdw>
                </a:effectLst>
              </a:rPr>
              <a:t>③</a:t>
            </a:r>
          </a:p>
        </p:txBody>
      </p:sp>
      <p:sp>
        <p:nvSpPr>
          <p:cNvPr id="15" name="正方形/長方形 14">
            <a:extLst>
              <a:ext uri="{FF2B5EF4-FFF2-40B4-BE49-F238E27FC236}">
                <a16:creationId xmlns:a16="http://schemas.microsoft.com/office/drawing/2014/main" id="{1EB268DD-32BE-292B-462C-CAC0ED864C5B}"/>
              </a:ext>
            </a:extLst>
          </p:cNvPr>
          <p:cNvSpPr/>
          <p:nvPr/>
        </p:nvSpPr>
        <p:spPr>
          <a:xfrm>
            <a:off x="3809777" y="5283444"/>
            <a:ext cx="914400" cy="9144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dirty="0">
                <a:ln w="0"/>
                <a:solidFill>
                  <a:schemeClr val="tx1"/>
                </a:solidFill>
                <a:effectLst>
                  <a:outerShdw blurRad="38100" dist="19050" dir="2700000" algn="tl" rotWithShape="0">
                    <a:schemeClr val="dk1">
                      <a:alpha val="40000"/>
                    </a:schemeClr>
                  </a:outerShdw>
                </a:effectLst>
              </a:rPr>
              <a:t>④</a:t>
            </a:r>
          </a:p>
        </p:txBody>
      </p:sp>
    </p:spTree>
    <p:extLst>
      <p:ext uri="{BB962C8B-B14F-4D97-AF65-F5344CB8AC3E}">
        <p14:creationId xmlns:p14="http://schemas.microsoft.com/office/powerpoint/2010/main" val="3289221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2. Html </a:t>
            </a:r>
            <a:r>
              <a:rPr kumimoji="1" lang="ja-JP" altLang="en-US" dirty="0"/>
              <a:t>における </a:t>
            </a:r>
            <a:r>
              <a:rPr kumimoji="1" lang="en-US" altLang="ja-JP" dirty="0"/>
              <a:t>Object</a:t>
            </a:r>
            <a:r>
              <a:rPr kumimoji="1" lang="ja-JP" altLang="en-US" dirty="0"/>
              <a:t> の配置</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436132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dirty="0"/>
              <a:t>2. </a:t>
            </a:r>
            <a:r>
              <a:rPr lang="ja-JP" altLang="en-US" dirty="0"/>
              <a:t>ファイル内に必要なタグを記述する</a:t>
            </a:r>
            <a:endParaRPr lang="en-US" altLang="ja-JP" dirty="0"/>
          </a:p>
          <a:p>
            <a:pPr marL="0" indent="0">
              <a:buNone/>
            </a:pPr>
            <a:r>
              <a:rPr lang="ja-JP" altLang="en-US" sz="2400" dirty="0"/>
              <a:t>任意の </a:t>
            </a:r>
            <a:r>
              <a:rPr lang="en-US" altLang="ja-JP" sz="2400" dirty="0"/>
              <a:t>Text Editor </a:t>
            </a:r>
            <a:r>
              <a:rPr lang="ja-JP" altLang="en-US" sz="2400" dirty="0"/>
              <a:t>で</a:t>
            </a:r>
            <a:r>
              <a:rPr lang="en-US" altLang="ja-JP" sz="2400" dirty="0"/>
              <a:t>sample.txt </a:t>
            </a:r>
            <a:r>
              <a:rPr lang="ja-JP" altLang="en-US" sz="2400" dirty="0"/>
              <a:t>を開きます。</a:t>
            </a:r>
            <a:endParaRPr lang="en-US" altLang="ja-JP" sz="2400" dirty="0"/>
          </a:p>
          <a:p>
            <a:pPr marL="0" indent="0">
              <a:buNone/>
            </a:pPr>
            <a:r>
              <a:rPr lang="en-US" altLang="ja-JP" sz="2400" dirty="0"/>
              <a:t>(</a:t>
            </a:r>
            <a:r>
              <a:rPr lang="ja-JP" altLang="en-US" sz="2400" dirty="0"/>
              <a:t>図は サクラエディタ利用</a:t>
            </a:r>
            <a:r>
              <a:rPr lang="en-US" altLang="ja-JP" sz="2400" dirty="0"/>
              <a:t>)</a:t>
            </a:r>
            <a:endParaRPr lang="ja-JP" altLang="en-US" sz="2400" dirty="0"/>
          </a:p>
        </p:txBody>
      </p:sp>
      <p:pic>
        <p:nvPicPr>
          <p:cNvPr id="4" name="図 3">
            <a:extLst>
              <a:ext uri="{FF2B5EF4-FFF2-40B4-BE49-F238E27FC236}">
                <a16:creationId xmlns:a16="http://schemas.microsoft.com/office/drawing/2014/main" id="{DFA19F85-32B8-BBFB-AC1D-800521451954}"/>
              </a:ext>
            </a:extLst>
          </p:cNvPr>
          <p:cNvPicPr>
            <a:picLocks noChangeAspect="1"/>
          </p:cNvPicPr>
          <p:nvPr/>
        </p:nvPicPr>
        <p:blipFill>
          <a:blip r:embed="rId2"/>
          <a:stretch>
            <a:fillRect/>
          </a:stretch>
        </p:blipFill>
        <p:spPr>
          <a:xfrm>
            <a:off x="609600" y="2924269"/>
            <a:ext cx="3333326" cy="3583592"/>
          </a:xfrm>
          <a:prstGeom prst="rect">
            <a:avLst/>
          </a:prstGeom>
        </p:spPr>
      </p:pic>
      <p:pic>
        <p:nvPicPr>
          <p:cNvPr id="9" name="図 8">
            <a:extLst>
              <a:ext uri="{FF2B5EF4-FFF2-40B4-BE49-F238E27FC236}">
                <a16:creationId xmlns:a16="http://schemas.microsoft.com/office/drawing/2014/main" id="{AD42EEC1-D846-C374-DAA9-ADB340215230}"/>
              </a:ext>
            </a:extLst>
          </p:cNvPr>
          <p:cNvPicPr>
            <a:picLocks noChangeAspect="1"/>
          </p:cNvPicPr>
          <p:nvPr/>
        </p:nvPicPr>
        <p:blipFill>
          <a:blip r:embed="rId3"/>
          <a:stretch>
            <a:fillRect/>
          </a:stretch>
        </p:blipFill>
        <p:spPr>
          <a:xfrm>
            <a:off x="4772922" y="2983895"/>
            <a:ext cx="4085328" cy="2991368"/>
          </a:xfrm>
          <a:prstGeom prst="rect">
            <a:avLst/>
          </a:prstGeom>
        </p:spPr>
      </p:pic>
    </p:spTree>
    <p:extLst>
      <p:ext uri="{BB962C8B-B14F-4D97-AF65-F5344CB8AC3E}">
        <p14:creationId xmlns:p14="http://schemas.microsoft.com/office/powerpoint/2010/main" val="675453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2. Html </a:t>
            </a:r>
            <a:r>
              <a:rPr kumimoji="1" lang="ja-JP" altLang="en-US" dirty="0"/>
              <a:t>における </a:t>
            </a:r>
            <a:r>
              <a:rPr kumimoji="1" lang="en-US" altLang="ja-JP" dirty="0"/>
              <a:t>Object</a:t>
            </a:r>
            <a:r>
              <a:rPr kumimoji="1" lang="ja-JP" altLang="en-US" dirty="0"/>
              <a:t> の配置</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106586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dirty="0"/>
              <a:t>2. </a:t>
            </a:r>
            <a:r>
              <a:rPr lang="ja-JP" altLang="en-US" dirty="0"/>
              <a:t>ファイル内に必要なタグを記述する</a:t>
            </a:r>
            <a:endParaRPr lang="en-US" altLang="ja-JP" dirty="0"/>
          </a:p>
          <a:p>
            <a:pPr marL="0" indent="0">
              <a:buNone/>
            </a:pPr>
            <a:r>
              <a:rPr lang="ja-JP" altLang="en-US" sz="2400" dirty="0"/>
              <a:t>次のテキストを打ち込み、</a:t>
            </a:r>
            <a:r>
              <a:rPr lang="ja-JP" altLang="en-US" sz="2400" b="1" u="sng" dirty="0"/>
              <a:t>保存します</a:t>
            </a:r>
            <a:r>
              <a:rPr lang="ja-JP" altLang="en-US" sz="2400" dirty="0"/>
              <a:t>。</a:t>
            </a:r>
            <a:endParaRPr lang="en-US" altLang="ja-JP" sz="2400" dirty="0"/>
          </a:p>
          <a:p>
            <a:pPr marL="0" indent="0">
              <a:buNone/>
            </a:pPr>
            <a:endParaRPr lang="en-US" altLang="ja-JP" sz="2400" dirty="0"/>
          </a:p>
          <a:p>
            <a:pPr marL="0" indent="0">
              <a:buNone/>
            </a:pPr>
            <a:endParaRPr lang="en-US" altLang="ja-JP" sz="2400" dirty="0"/>
          </a:p>
        </p:txBody>
      </p:sp>
      <p:sp>
        <p:nvSpPr>
          <p:cNvPr id="9" name="正方形/長方形 8">
            <a:extLst>
              <a:ext uri="{FF2B5EF4-FFF2-40B4-BE49-F238E27FC236}">
                <a16:creationId xmlns:a16="http://schemas.microsoft.com/office/drawing/2014/main" id="{37DE6048-310B-B463-0B9B-3799CF778ACD}"/>
              </a:ext>
            </a:extLst>
          </p:cNvPr>
          <p:cNvSpPr/>
          <p:nvPr/>
        </p:nvSpPr>
        <p:spPr>
          <a:xfrm>
            <a:off x="1130013" y="3060164"/>
            <a:ext cx="4356387" cy="7986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200" dirty="0"/>
              <a:t>&lt;html&gt;</a:t>
            </a:r>
          </a:p>
          <a:p>
            <a:r>
              <a:rPr kumimoji="1" lang="en-US" altLang="ja-JP" sz="1200" dirty="0"/>
              <a:t>&lt;title&gt;sample.htm </a:t>
            </a:r>
            <a:r>
              <a:rPr kumimoji="1" lang="ja-JP" altLang="en-US" sz="1200" dirty="0"/>
              <a:t>タイトル</a:t>
            </a:r>
            <a:r>
              <a:rPr kumimoji="1" lang="en-US" altLang="ja-JP" sz="1200" dirty="0"/>
              <a:t>&lt;/title&gt;</a:t>
            </a:r>
          </a:p>
          <a:p>
            <a:r>
              <a:rPr kumimoji="1" lang="en-US" altLang="ja-JP" sz="1200" dirty="0"/>
              <a:t>&lt;body&gt;&lt;input type="text" value="Hello world!"&gt;&lt;/input&gt;&lt;/body&gt;</a:t>
            </a:r>
          </a:p>
          <a:p>
            <a:r>
              <a:rPr kumimoji="1" lang="en-US" altLang="ja-JP" sz="1200" dirty="0"/>
              <a:t>&lt;html&gt;</a:t>
            </a:r>
            <a:endParaRPr kumimoji="1" lang="ja-JP" altLang="en-US" sz="1200" dirty="0"/>
          </a:p>
        </p:txBody>
      </p:sp>
      <p:pic>
        <p:nvPicPr>
          <p:cNvPr id="11" name="図 10">
            <a:extLst>
              <a:ext uri="{FF2B5EF4-FFF2-40B4-BE49-F238E27FC236}">
                <a16:creationId xmlns:a16="http://schemas.microsoft.com/office/drawing/2014/main" id="{02398A0F-9A69-59A6-3C74-327E81EEB71D}"/>
              </a:ext>
            </a:extLst>
          </p:cNvPr>
          <p:cNvPicPr>
            <a:picLocks noChangeAspect="1"/>
          </p:cNvPicPr>
          <p:nvPr/>
        </p:nvPicPr>
        <p:blipFill>
          <a:blip r:embed="rId2"/>
          <a:stretch>
            <a:fillRect/>
          </a:stretch>
        </p:blipFill>
        <p:spPr>
          <a:xfrm>
            <a:off x="609600" y="3060164"/>
            <a:ext cx="5868995" cy="950340"/>
          </a:xfrm>
          <a:prstGeom prst="rect">
            <a:avLst/>
          </a:prstGeom>
        </p:spPr>
      </p:pic>
    </p:spTree>
    <p:extLst>
      <p:ext uri="{BB962C8B-B14F-4D97-AF65-F5344CB8AC3E}">
        <p14:creationId xmlns:p14="http://schemas.microsoft.com/office/powerpoint/2010/main" val="3518060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2. Html </a:t>
            </a:r>
            <a:r>
              <a:rPr kumimoji="1" lang="ja-JP" altLang="en-US" dirty="0"/>
              <a:t>における </a:t>
            </a:r>
            <a:r>
              <a:rPr kumimoji="1" lang="en-US" altLang="ja-JP" dirty="0"/>
              <a:t>Object</a:t>
            </a:r>
            <a:r>
              <a:rPr kumimoji="1" lang="ja-JP" altLang="en-US" dirty="0"/>
              <a:t> の配置</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8229600" cy="1065860"/>
          </a:xfrm>
          <a:prstGeom prst="rect">
            <a:avLst/>
          </a:prstGeom>
        </p:spPr>
        <p:txBody>
          <a:bodyPr vert="horz" lIns="91440" tIns="45720" rIns="91440" bIns="45720" rtlCol="0">
            <a:normAutofit fontScale="925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dirty="0"/>
              <a:t>3. </a:t>
            </a:r>
            <a:r>
              <a:rPr lang="ja-JP" altLang="en-US" dirty="0"/>
              <a:t>ブラウザで開き内容を確認する</a:t>
            </a:r>
          </a:p>
          <a:p>
            <a:pPr marL="0" indent="0">
              <a:buNone/>
            </a:pPr>
            <a:r>
              <a:rPr lang="ja-JP" altLang="en-US" sz="2600" dirty="0"/>
              <a:t>ブラウザで開きます。画像のように表示されていれば成功です。</a:t>
            </a:r>
            <a:endParaRPr lang="en-US" altLang="ja-JP" sz="2600" dirty="0"/>
          </a:p>
          <a:p>
            <a:pPr marL="0" indent="0">
              <a:buNone/>
            </a:pPr>
            <a:endParaRPr lang="en-US" altLang="ja-JP" sz="2400" dirty="0"/>
          </a:p>
          <a:p>
            <a:pPr marL="0" indent="0">
              <a:buNone/>
            </a:pPr>
            <a:endParaRPr lang="en-US" altLang="ja-JP" sz="2400" dirty="0"/>
          </a:p>
        </p:txBody>
      </p:sp>
      <p:pic>
        <p:nvPicPr>
          <p:cNvPr id="7" name="図 6">
            <a:extLst>
              <a:ext uri="{FF2B5EF4-FFF2-40B4-BE49-F238E27FC236}">
                <a16:creationId xmlns:a16="http://schemas.microsoft.com/office/drawing/2014/main" id="{A885C6BF-7C2D-9A84-DE98-6900139BF667}"/>
              </a:ext>
            </a:extLst>
          </p:cNvPr>
          <p:cNvPicPr>
            <a:picLocks noChangeAspect="1"/>
          </p:cNvPicPr>
          <p:nvPr/>
        </p:nvPicPr>
        <p:blipFill>
          <a:blip r:embed="rId2"/>
          <a:stretch>
            <a:fillRect/>
          </a:stretch>
        </p:blipFill>
        <p:spPr>
          <a:xfrm>
            <a:off x="476250" y="2566327"/>
            <a:ext cx="5330190" cy="3724935"/>
          </a:xfrm>
          <a:prstGeom prst="rect">
            <a:avLst/>
          </a:prstGeom>
        </p:spPr>
      </p:pic>
    </p:spTree>
    <p:extLst>
      <p:ext uri="{BB962C8B-B14F-4D97-AF65-F5344CB8AC3E}">
        <p14:creationId xmlns:p14="http://schemas.microsoft.com/office/powerpoint/2010/main" val="1562699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3. JavaScript</a:t>
            </a:r>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2"/>
            <a:ext cx="8229600" cy="469342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sz="2400" dirty="0"/>
              <a:t>○ </a:t>
            </a:r>
            <a:r>
              <a:rPr lang="en-US" altLang="ja-JP" sz="2400" dirty="0"/>
              <a:t>JavaScript </a:t>
            </a:r>
            <a:r>
              <a:rPr lang="ja-JP" altLang="en-US" sz="2400" dirty="0"/>
              <a:t>とは</a:t>
            </a:r>
            <a:endParaRPr lang="en-US" altLang="ja-JP" sz="2400" dirty="0"/>
          </a:p>
          <a:p>
            <a:pPr marL="0" indent="0">
              <a:buNone/>
            </a:pPr>
            <a:r>
              <a:rPr lang="ja-JP" altLang="en-US" sz="2400" dirty="0"/>
              <a:t>現行の </a:t>
            </a:r>
            <a:r>
              <a:rPr lang="en-US" altLang="ja-JP" sz="2400" dirty="0"/>
              <a:t>Web Browser (</a:t>
            </a:r>
            <a:r>
              <a:rPr lang="ja-JP" altLang="en-US" sz="2400" dirty="0"/>
              <a:t>フロントエンド処理</a:t>
            </a:r>
            <a:r>
              <a:rPr lang="en-US" altLang="ja-JP" sz="2400" dirty="0"/>
              <a:t>) </a:t>
            </a:r>
            <a:r>
              <a:rPr lang="ja-JP" altLang="en-US" sz="2400" dirty="0"/>
              <a:t>が共通サポートする唯一のプログラミング言語。</a:t>
            </a:r>
            <a:endParaRPr lang="en-US" altLang="ja-JP" sz="2400" dirty="0"/>
          </a:p>
          <a:p>
            <a:pPr marL="0" indent="0">
              <a:buNone/>
            </a:pPr>
            <a:endParaRPr lang="en-US" altLang="ja-JP" sz="2400" dirty="0"/>
          </a:p>
          <a:p>
            <a:pPr marL="0" indent="0">
              <a:buNone/>
            </a:pPr>
            <a:r>
              <a:rPr lang="ja-JP" altLang="en-US" sz="2400" dirty="0"/>
              <a:t>○ 特徴</a:t>
            </a:r>
            <a:endParaRPr lang="en-US" altLang="ja-JP" sz="2400" dirty="0"/>
          </a:p>
          <a:p>
            <a:pPr marL="0" indent="0">
              <a:buNone/>
            </a:pPr>
            <a:r>
              <a:rPr lang="ja-JP" altLang="en-US" sz="2400" dirty="0"/>
              <a:t>・ インタプリタ </a:t>
            </a:r>
            <a:r>
              <a:rPr lang="en-US" altLang="ja-JP" sz="2400" dirty="0"/>
              <a:t>(</a:t>
            </a:r>
            <a:r>
              <a:rPr lang="ja-JP" altLang="en-US" sz="2400" dirty="0"/>
              <a:t>実行時コンパイル</a:t>
            </a:r>
            <a:r>
              <a:rPr lang="en-US" altLang="ja-JP" sz="2400" dirty="0"/>
              <a:t>) </a:t>
            </a:r>
            <a:r>
              <a:rPr lang="ja-JP" altLang="en-US" sz="2400" dirty="0"/>
              <a:t>型</a:t>
            </a:r>
            <a:endParaRPr lang="en-US" altLang="ja-JP" sz="2400" dirty="0"/>
          </a:p>
          <a:p>
            <a:pPr marL="0" indent="0">
              <a:buNone/>
            </a:pPr>
            <a:r>
              <a:rPr lang="ja-JP" altLang="en-US" sz="2400" dirty="0"/>
              <a:t>・ 基本が手続き型 </a:t>
            </a:r>
            <a:r>
              <a:rPr lang="en-US" altLang="ja-JP" sz="2400" dirty="0"/>
              <a:t>(if / for </a:t>
            </a:r>
            <a:r>
              <a:rPr lang="ja-JP" altLang="en-US" sz="2400" dirty="0"/>
              <a:t>等の制御構造</a:t>
            </a:r>
            <a:r>
              <a:rPr lang="en-US" altLang="ja-JP" sz="2400" dirty="0"/>
              <a:t>)</a:t>
            </a:r>
            <a:r>
              <a:rPr lang="ja-JP" altLang="en-US" sz="2400" dirty="0"/>
              <a:t> </a:t>
            </a:r>
            <a:endParaRPr lang="en-US" altLang="ja-JP" sz="2400" dirty="0"/>
          </a:p>
          <a:p>
            <a:pPr marL="0" indent="0">
              <a:buNone/>
            </a:pPr>
            <a:r>
              <a:rPr lang="ja-JP" altLang="en-US" sz="2400" dirty="0"/>
              <a:t>・ 動的変数 </a:t>
            </a:r>
            <a:r>
              <a:rPr lang="en-US" altLang="ja-JP" sz="2400" dirty="0"/>
              <a:t>(</a:t>
            </a:r>
            <a:r>
              <a:rPr lang="ja-JP" altLang="en-US" sz="2400" dirty="0"/>
              <a:t>宣言による型の概念が無い</a:t>
            </a:r>
            <a:r>
              <a:rPr lang="en-US" altLang="ja-JP" sz="2400" dirty="0"/>
              <a:t>)</a:t>
            </a:r>
          </a:p>
          <a:p>
            <a:pPr marL="0" indent="0">
              <a:buNone/>
            </a:pPr>
            <a:r>
              <a:rPr lang="ja-JP" altLang="en-US" sz="2400" dirty="0"/>
              <a:t>・ 非オブジェクト指向 </a:t>
            </a:r>
            <a:r>
              <a:rPr lang="en-US" altLang="ja-JP" sz="2400" dirty="0"/>
              <a:t>(</a:t>
            </a:r>
            <a:r>
              <a:rPr lang="ja-JP" altLang="en-US" sz="2400" dirty="0"/>
              <a:t>クラスの概念が無い</a:t>
            </a:r>
            <a:r>
              <a:rPr lang="en-US" altLang="ja-JP" sz="2400" dirty="0"/>
              <a:t>)</a:t>
            </a:r>
          </a:p>
          <a:p>
            <a:pPr marL="0" indent="0">
              <a:buNone/>
            </a:pPr>
            <a:r>
              <a:rPr lang="ja-JP" altLang="en-US" sz="2400" dirty="0"/>
              <a:t>・ </a:t>
            </a:r>
            <a:r>
              <a:rPr lang="en-US" altLang="ja-JP" sz="2400" dirty="0"/>
              <a:t>TypeScript </a:t>
            </a:r>
            <a:r>
              <a:rPr lang="ja-JP" altLang="en-US" sz="2400" dirty="0"/>
              <a:t>というデファクトなスーパーセット言語</a:t>
            </a:r>
            <a:endParaRPr lang="en-US" altLang="ja-JP" sz="2400" dirty="0"/>
          </a:p>
        </p:txBody>
      </p:sp>
    </p:spTree>
    <p:extLst>
      <p:ext uri="{BB962C8B-B14F-4D97-AF65-F5344CB8AC3E}">
        <p14:creationId xmlns:p14="http://schemas.microsoft.com/office/powerpoint/2010/main" val="240805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3. JavaScript</a:t>
            </a:r>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436132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○手順</a:t>
            </a:r>
            <a:endParaRPr lang="en-US" altLang="ja-JP" dirty="0"/>
          </a:p>
          <a:p>
            <a:pPr marL="514350" indent="-514350">
              <a:buFont typeface="+mj-lt"/>
              <a:buAutoNum type="arabicPeriod"/>
            </a:pPr>
            <a:r>
              <a:rPr lang="ja-JP" altLang="en-US" dirty="0"/>
              <a:t>新規にファイルを作成する </a:t>
            </a:r>
            <a:r>
              <a:rPr lang="en-US" altLang="ja-JP" dirty="0"/>
              <a:t>(</a:t>
            </a:r>
            <a:r>
              <a:rPr lang="ja-JP" altLang="en-US" dirty="0"/>
              <a:t>省略</a:t>
            </a:r>
            <a:r>
              <a:rPr lang="en-US" altLang="ja-JP" dirty="0"/>
              <a:t>)</a:t>
            </a:r>
          </a:p>
          <a:p>
            <a:pPr marL="514350" indent="-514350">
              <a:buFont typeface="+mj-lt"/>
              <a:buAutoNum type="arabicPeriod"/>
            </a:pPr>
            <a:r>
              <a:rPr lang="ja-JP" altLang="en-US" dirty="0"/>
              <a:t>ファイル内に必要なタグを記述する</a:t>
            </a:r>
            <a:endParaRPr lang="en-US" altLang="ja-JP" dirty="0"/>
          </a:p>
          <a:p>
            <a:pPr marL="514350" indent="-514350">
              <a:buFont typeface="+mj-lt"/>
              <a:buAutoNum type="arabicPeriod"/>
            </a:pPr>
            <a:r>
              <a:rPr lang="ja-JP" altLang="en-US" dirty="0"/>
              <a:t>ブラウザで開き内容を確認する</a:t>
            </a:r>
          </a:p>
        </p:txBody>
      </p:sp>
    </p:spTree>
    <p:extLst>
      <p:ext uri="{BB962C8B-B14F-4D97-AF65-F5344CB8AC3E}">
        <p14:creationId xmlns:p14="http://schemas.microsoft.com/office/powerpoint/2010/main" val="3823530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3. JavaScript</a:t>
            </a:r>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215871"/>
            <a:ext cx="7973466" cy="147326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dirty="0"/>
              <a:t>2. </a:t>
            </a:r>
            <a:r>
              <a:rPr lang="ja-JP" altLang="en-US" dirty="0"/>
              <a:t>ファイル内に必要なタグを記述する</a:t>
            </a:r>
            <a:endParaRPr lang="en-US" altLang="ja-JP" dirty="0"/>
          </a:p>
          <a:p>
            <a:pPr marL="0" indent="0">
              <a:buNone/>
            </a:pPr>
            <a:r>
              <a:rPr lang="ja-JP" altLang="en-US" sz="2400" dirty="0"/>
              <a:t>任意の </a:t>
            </a:r>
            <a:r>
              <a:rPr lang="en-US" altLang="ja-JP" sz="2400" dirty="0"/>
              <a:t>Text Editor </a:t>
            </a:r>
            <a:r>
              <a:rPr lang="ja-JP" altLang="en-US" sz="2400" dirty="0"/>
              <a:t>で新規作成したファイルを開き、</a:t>
            </a:r>
            <a:endParaRPr lang="en-US" altLang="ja-JP" sz="2400" dirty="0"/>
          </a:p>
          <a:p>
            <a:pPr marL="0" indent="0">
              <a:buNone/>
            </a:pPr>
            <a:r>
              <a:rPr lang="ja-JP" altLang="en-US" sz="2400" dirty="0"/>
              <a:t>下記コードを記録後、保存します。</a:t>
            </a:r>
          </a:p>
        </p:txBody>
      </p:sp>
      <p:sp>
        <p:nvSpPr>
          <p:cNvPr id="7" name="正方形/長方形 6">
            <a:extLst>
              <a:ext uri="{FF2B5EF4-FFF2-40B4-BE49-F238E27FC236}">
                <a16:creationId xmlns:a16="http://schemas.microsoft.com/office/drawing/2014/main" id="{47D8B9B9-8D49-BD8E-FC78-B560B80C2E3B}"/>
              </a:ext>
            </a:extLst>
          </p:cNvPr>
          <p:cNvSpPr/>
          <p:nvPr/>
        </p:nvSpPr>
        <p:spPr>
          <a:xfrm>
            <a:off x="1127100" y="2689137"/>
            <a:ext cx="5162605" cy="39851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t>&lt;!DOCTYPE html&gt;</a:t>
            </a:r>
          </a:p>
          <a:p>
            <a:r>
              <a:rPr kumimoji="1" lang="en-US" altLang="ja-JP" sz="1000" dirty="0"/>
              <a:t>&lt;html lang="ja"&gt;</a:t>
            </a:r>
          </a:p>
          <a:p>
            <a:r>
              <a:rPr kumimoji="1" lang="en-US" altLang="ja-JP" sz="1000" dirty="0"/>
              <a:t>&lt;head&gt;</a:t>
            </a:r>
          </a:p>
          <a:p>
            <a:r>
              <a:rPr kumimoji="1" lang="en-US" altLang="ja-JP" sz="1000" dirty="0"/>
              <a:t>&lt;meta charset="UTF-8"&gt;</a:t>
            </a:r>
          </a:p>
          <a:p>
            <a:r>
              <a:rPr kumimoji="1" lang="en-US" altLang="ja-JP" sz="1000" dirty="0"/>
              <a:t>&lt;title&gt;</a:t>
            </a:r>
            <a:r>
              <a:rPr kumimoji="1" lang="ja-JP" altLang="en-US" sz="1000" dirty="0"/>
              <a:t>テキストボックスとボタン</a:t>
            </a:r>
            <a:r>
              <a:rPr kumimoji="1" lang="en-US" altLang="ja-JP" sz="1000" dirty="0"/>
              <a:t>&lt;/title&gt;</a:t>
            </a:r>
          </a:p>
          <a:p>
            <a:r>
              <a:rPr kumimoji="1" lang="en-US" altLang="ja-JP" sz="1000" dirty="0"/>
              <a:t>&lt;script&gt;</a:t>
            </a:r>
          </a:p>
          <a:p>
            <a:r>
              <a:rPr kumimoji="1" lang="en-US" altLang="ja-JP" sz="1000" dirty="0"/>
              <a:t>function </a:t>
            </a:r>
            <a:r>
              <a:rPr kumimoji="1" lang="en-US" altLang="ja-JP" sz="1000" dirty="0" err="1"/>
              <a:t>showAlert</a:t>
            </a:r>
            <a:r>
              <a:rPr kumimoji="1" lang="en-US" altLang="ja-JP" sz="1000" dirty="0"/>
              <a:t>() {</a:t>
            </a:r>
          </a:p>
          <a:p>
            <a:r>
              <a:rPr kumimoji="1" lang="en-US" altLang="ja-JP" sz="1000" dirty="0"/>
              <a:t>    var text1 = </a:t>
            </a:r>
            <a:r>
              <a:rPr kumimoji="1" lang="en-US" altLang="ja-JP" sz="1000" dirty="0" err="1"/>
              <a:t>parseFloat</a:t>
            </a:r>
            <a:r>
              <a:rPr kumimoji="1" lang="en-US" altLang="ja-JP" sz="1000" dirty="0"/>
              <a:t>(</a:t>
            </a:r>
            <a:r>
              <a:rPr kumimoji="1" lang="en-US" altLang="ja-JP" sz="1000" dirty="0" err="1"/>
              <a:t>document.getElementById</a:t>
            </a:r>
            <a:r>
              <a:rPr kumimoji="1" lang="en-US" altLang="ja-JP" sz="1000" dirty="0"/>
              <a:t>('textbox1').value);</a:t>
            </a:r>
          </a:p>
          <a:p>
            <a:r>
              <a:rPr kumimoji="1" lang="en-US" altLang="ja-JP" sz="1000" dirty="0"/>
              <a:t>    var text2 = </a:t>
            </a:r>
            <a:r>
              <a:rPr kumimoji="1" lang="en-US" altLang="ja-JP" sz="1000" dirty="0" err="1"/>
              <a:t>parseFloat</a:t>
            </a:r>
            <a:r>
              <a:rPr kumimoji="1" lang="en-US" altLang="ja-JP" sz="1000" dirty="0"/>
              <a:t>(</a:t>
            </a:r>
            <a:r>
              <a:rPr kumimoji="1" lang="en-US" altLang="ja-JP" sz="1000" dirty="0" err="1"/>
              <a:t>document.getElementById</a:t>
            </a:r>
            <a:r>
              <a:rPr kumimoji="1" lang="en-US" altLang="ja-JP" sz="1000" dirty="0"/>
              <a:t>('textbox2').value);</a:t>
            </a:r>
          </a:p>
          <a:p>
            <a:r>
              <a:rPr kumimoji="1" lang="en-US" altLang="ja-JP" sz="1000" dirty="0"/>
              <a:t>    alert(text1 + text2);</a:t>
            </a:r>
          </a:p>
          <a:p>
            <a:r>
              <a:rPr kumimoji="1" lang="en-US" altLang="ja-JP" sz="1000" dirty="0"/>
              <a:t>}</a:t>
            </a:r>
          </a:p>
          <a:p>
            <a:r>
              <a:rPr kumimoji="1" lang="en-US" altLang="ja-JP" sz="1000" dirty="0"/>
              <a:t>&lt;/script&gt;</a:t>
            </a:r>
          </a:p>
          <a:p>
            <a:r>
              <a:rPr kumimoji="1" lang="en-US" altLang="ja-JP" sz="1000" dirty="0"/>
              <a:t>&lt;/head&gt;</a:t>
            </a:r>
          </a:p>
          <a:p>
            <a:r>
              <a:rPr kumimoji="1" lang="en-US" altLang="ja-JP" sz="1000" dirty="0"/>
              <a:t>&lt;body&gt;</a:t>
            </a:r>
          </a:p>
          <a:p>
            <a:endParaRPr kumimoji="1" lang="en-US" altLang="ja-JP" sz="1000" dirty="0"/>
          </a:p>
          <a:p>
            <a:r>
              <a:rPr kumimoji="1" lang="en-US" altLang="ja-JP" sz="1000" dirty="0"/>
              <a:t>&lt;h1&gt;</a:t>
            </a:r>
            <a:r>
              <a:rPr kumimoji="1" lang="ja-JP" altLang="en-US" sz="1000" dirty="0"/>
              <a:t>足し算</a:t>
            </a:r>
            <a:r>
              <a:rPr kumimoji="1" lang="en-US" altLang="ja-JP" sz="1000" dirty="0"/>
              <a:t>&lt;/h1&gt;</a:t>
            </a:r>
          </a:p>
          <a:p>
            <a:endParaRPr kumimoji="1" lang="en-US" altLang="ja-JP" sz="1000" dirty="0"/>
          </a:p>
          <a:p>
            <a:r>
              <a:rPr kumimoji="1" lang="en-US" altLang="ja-JP" sz="1000" dirty="0"/>
              <a:t>&lt;input type="text" id="textbox1" placeholder="</a:t>
            </a:r>
            <a:r>
              <a:rPr kumimoji="1" lang="ja-JP" altLang="en-US" sz="1000" dirty="0"/>
              <a:t>テキストボックス</a:t>
            </a:r>
            <a:r>
              <a:rPr kumimoji="1" lang="en-US" altLang="ja-JP" sz="1000" dirty="0"/>
              <a:t>1"&gt;</a:t>
            </a:r>
          </a:p>
          <a:p>
            <a:r>
              <a:rPr kumimoji="1" lang="en-US" altLang="ja-JP" sz="1000" dirty="0"/>
              <a:t>&lt;input type="text" id="textbox2" placeholder="</a:t>
            </a:r>
            <a:r>
              <a:rPr kumimoji="1" lang="ja-JP" altLang="en-US" sz="1000" dirty="0"/>
              <a:t>テキストボックス</a:t>
            </a:r>
            <a:r>
              <a:rPr kumimoji="1" lang="en-US" altLang="ja-JP" sz="1000" dirty="0"/>
              <a:t>2"&gt;</a:t>
            </a:r>
          </a:p>
          <a:p>
            <a:r>
              <a:rPr kumimoji="1" lang="en-US" altLang="ja-JP" sz="1000" dirty="0"/>
              <a:t>&lt;button onclick="</a:t>
            </a:r>
            <a:r>
              <a:rPr kumimoji="1" lang="en-US" altLang="ja-JP" sz="1000" dirty="0" err="1"/>
              <a:t>showAlert</a:t>
            </a:r>
            <a:r>
              <a:rPr kumimoji="1" lang="en-US" altLang="ja-JP" sz="1000" dirty="0"/>
              <a:t>()"&gt;</a:t>
            </a:r>
            <a:r>
              <a:rPr kumimoji="1" lang="ja-JP" altLang="en-US" sz="1000" dirty="0"/>
              <a:t>計算</a:t>
            </a:r>
            <a:r>
              <a:rPr kumimoji="1" lang="en-US" altLang="ja-JP" sz="1000" dirty="0"/>
              <a:t>&lt;/button&gt;</a:t>
            </a:r>
          </a:p>
          <a:p>
            <a:endParaRPr kumimoji="1" lang="en-US" altLang="ja-JP" sz="1000" dirty="0"/>
          </a:p>
          <a:p>
            <a:r>
              <a:rPr kumimoji="1" lang="en-US" altLang="ja-JP" sz="1000" dirty="0"/>
              <a:t>&lt;/body&gt;</a:t>
            </a:r>
          </a:p>
          <a:p>
            <a:r>
              <a:rPr kumimoji="1" lang="en-US" altLang="ja-JP" sz="1000" dirty="0"/>
              <a:t>&lt;/html&gt;</a:t>
            </a:r>
            <a:endParaRPr kumimoji="1" lang="ja-JP" altLang="en-US" sz="1000" dirty="0"/>
          </a:p>
        </p:txBody>
      </p:sp>
      <p:pic>
        <p:nvPicPr>
          <p:cNvPr id="6" name="図 5">
            <a:extLst>
              <a:ext uri="{FF2B5EF4-FFF2-40B4-BE49-F238E27FC236}">
                <a16:creationId xmlns:a16="http://schemas.microsoft.com/office/drawing/2014/main" id="{EEE384A6-7778-0550-65BD-327D85914671}"/>
              </a:ext>
            </a:extLst>
          </p:cNvPr>
          <p:cNvPicPr>
            <a:picLocks noChangeAspect="1"/>
          </p:cNvPicPr>
          <p:nvPr/>
        </p:nvPicPr>
        <p:blipFill>
          <a:blip r:embed="rId2"/>
          <a:stretch>
            <a:fillRect/>
          </a:stretch>
        </p:blipFill>
        <p:spPr>
          <a:xfrm>
            <a:off x="1127100" y="2689137"/>
            <a:ext cx="5249008" cy="4058216"/>
          </a:xfrm>
          <a:prstGeom prst="rect">
            <a:avLst/>
          </a:prstGeom>
        </p:spPr>
      </p:pic>
    </p:spTree>
    <p:extLst>
      <p:ext uri="{BB962C8B-B14F-4D97-AF65-F5344CB8AC3E}">
        <p14:creationId xmlns:p14="http://schemas.microsoft.com/office/powerpoint/2010/main" val="2749853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3. JavaScript</a:t>
            </a:r>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160446"/>
            <a:ext cx="8229600" cy="1065860"/>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dirty="0"/>
              <a:t>3. </a:t>
            </a:r>
            <a:r>
              <a:rPr lang="ja-JP" altLang="en-US" dirty="0"/>
              <a:t>ブラウザで開き内容を確認する</a:t>
            </a:r>
          </a:p>
          <a:p>
            <a:pPr marL="0" indent="0">
              <a:buNone/>
            </a:pPr>
            <a:r>
              <a:rPr lang="ja-JP" altLang="en-US" sz="2600" dirty="0"/>
              <a:t>ブラウザでファイルを開きます。</a:t>
            </a:r>
            <a:endParaRPr lang="en-US" altLang="ja-JP" sz="2600" dirty="0"/>
          </a:p>
          <a:p>
            <a:pPr marL="0" indent="0">
              <a:buNone/>
            </a:pPr>
            <a:r>
              <a:rPr lang="ja-JP" altLang="en-US" sz="2600" dirty="0"/>
              <a:t>画像のように表示されてることを確認します。</a:t>
            </a:r>
            <a:endParaRPr lang="en-US" altLang="ja-JP" sz="2600" dirty="0"/>
          </a:p>
          <a:p>
            <a:pPr marL="0" indent="0">
              <a:buNone/>
            </a:pPr>
            <a:endParaRPr lang="en-US" altLang="ja-JP" sz="2400" dirty="0"/>
          </a:p>
          <a:p>
            <a:pPr marL="0" indent="0">
              <a:buNone/>
            </a:pPr>
            <a:endParaRPr lang="en-US" altLang="ja-JP" sz="2400" dirty="0"/>
          </a:p>
        </p:txBody>
      </p:sp>
      <p:pic>
        <p:nvPicPr>
          <p:cNvPr id="4" name="図 3">
            <a:extLst>
              <a:ext uri="{FF2B5EF4-FFF2-40B4-BE49-F238E27FC236}">
                <a16:creationId xmlns:a16="http://schemas.microsoft.com/office/drawing/2014/main" id="{032A9BBA-38EF-3568-B63F-43AE98A69C60}"/>
              </a:ext>
            </a:extLst>
          </p:cNvPr>
          <p:cNvPicPr>
            <a:picLocks noChangeAspect="1"/>
          </p:cNvPicPr>
          <p:nvPr/>
        </p:nvPicPr>
        <p:blipFill>
          <a:blip r:embed="rId2"/>
          <a:stretch>
            <a:fillRect/>
          </a:stretch>
        </p:blipFill>
        <p:spPr>
          <a:xfrm>
            <a:off x="762911" y="2550228"/>
            <a:ext cx="5353227" cy="3741034"/>
          </a:xfrm>
          <a:prstGeom prst="rect">
            <a:avLst/>
          </a:prstGeom>
        </p:spPr>
      </p:pic>
    </p:spTree>
    <p:extLst>
      <p:ext uri="{BB962C8B-B14F-4D97-AF65-F5344CB8AC3E}">
        <p14:creationId xmlns:p14="http://schemas.microsoft.com/office/powerpoint/2010/main" val="2135967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3. JavaScript</a:t>
            </a:r>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151900"/>
            <a:ext cx="8229600" cy="1065860"/>
          </a:xfrm>
          <a:prstGeom prst="rect">
            <a:avLst/>
          </a:prstGeom>
        </p:spPr>
        <p:txBody>
          <a:bodyPr vert="horz" lIns="91440" tIns="45720" rIns="91440" bIns="45720" rtlCol="0">
            <a:normAutofit fontScale="70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dirty="0"/>
              <a:t>3. </a:t>
            </a:r>
            <a:r>
              <a:rPr lang="ja-JP" altLang="en-US" dirty="0"/>
              <a:t>ブラウザで開き内容を確認する</a:t>
            </a:r>
          </a:p>
          <a:p>
            <a:pPr marL="0" indent="0">
              <a:buNone/>
            </a:pPr>
            <a:r>
              <a:rPr lang="ja-JP" altLang="en-US" sz="2600" dirty="0"/>
              <a:t>それぞれのテキストボックスに数字を入力後、</a:t>
            </a:r>
            <a:endParaRPr lang="en-US" altLang="ja-JP" sz="2600" dirty="0"/>
          </a:p>
          <a:p>
            <a:pPr marL="0" indent="0">
              <a:buNone/>
            </a:pPr>
            <a:r>
              <a:rPr lang="ja-JP" altLang="en-US" sz="2600" dirty="0"/>
              <a:t>計算ボタンを押下します。結果が表示され、計算結果が正しければ成功です。</a:t>
            </a:r>
            <a:endParaRPr lang="en-US" altLang="ja-JP" sz="2600" dirty="0"/>
          </a:p>
          <a:p>
            <a:pPr marL="0" indent="0">
              <a:buNone/>
            </a:pPr>
            <a:endParaRPr lang="en-US" altLang="ja-JP" sz="2400" dirty="0"/>
          </a:p>
          <a:p>
            <a:pPr marL="0" indent="0">
              <a:buNone/>
            </a:pPr>
            <a:endParaRPr lang="en-US" altLang="ja-JP" sz="2400" dirty="0"/>
          </a:p>
        </p:txBody>
      </p:sp>
      <p:pic>
        <p:nvPicPr>
          <p:cNvPr id="6" name="図 5">
            <a:extLst>
              <a:ext uri="{FF2B5EF4-FFF2-40B4-BE49-F238E27FC236}">
                <a16:creationId xmlns:a16="http://schemas.microsoft.com/office/drawing/2014/main" id="{9A2A5749-FE9C-DFA8-79FC-C808FBC0CE9F}"/>
              </a:ext>
            </a:extLst>
          </p:cNvPr>
          <p:cNvPicPr>
            <a:picLocks noChangeAspect="1"/>
          </p:cNvPicPr>
          <p:nvPr/>
        </p:nvPicPr>
        <p:blipFill>
          <a:blip r:embed="rId2"/>
          <a:stretch>
            <a:fillRect/>
          </a:stretch>
        </p:blipFill>
        <p:spPr>
          <a:xfrm>
            <a:off x="609600" y="2210687"/>
            <a:ext cx="5839092" cy="4080575"/>
          </a:xfrm>
          <a:prstGeom prst="rect">
            <a:avLst/>
          </a:prstGeom>
        </p:spPr>
      </p:pic>
      <p:pic>
        <p:nvPicPr>
          <p:cNvPr id="8" name="図 7">
            <a:extLst>
              <a:ext uri="{FF2B5EF4-FFF2-40B4-BE49-F238E27FC236}">
                <a16:creationId xmlns:a16="http://schemas.microsoft.com/office/drawing/2014/main" id="{2D9059DE-0178-629F-95ED-A3E4F105BC66}"/>
              </a:ext>
            </a:extLst>
          </p:cNvPr>
          <p:cNvPicPr>
            <a:picLocks noChangeAspect="1"/>
          </p:cNvPicPr>
          <p:nvPr/>
        </p:nvPicPr>
        <p:blipFill>
          <a:blip r:embed="rId3"/>
          <a:stretch>
            <a:fillRect/>
          </a:stretch>
        </p:blipFill>
        <p:spPr>
          <a:xfrm>
            <a:off x="4238025" y="4049608"/>
            <a:ext cx="4296375" cy="1181265"/>
          </a:xfrm>
          <a:prstGeom prst="rect">
            <a:avLst/>
          </a:prstGeom>
        </p:spPr>
      </p:pic>
    </p:spTree>
    <p:extLst>
      <p:ext uri="{BB962C8B-B14F-4D97-AF65-F5344CB8AC3E}">
        <p14:creationId xmlns:p14="http://schemas.microsoft.com/office/powerpoint/2010/main" val="2521497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3. JavaScript</a:t>
            </a:r>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1957309"/>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○変数</a:t>
            </a:r>
            <a:endParaRPr lang="en-US" altLang="ja-JP" dirty="0"/>
          </a:p>
          <a:p>
            <a:pPr marL="0" indent="0">
              <a:buNone/>
            </a:pPr>
            <a:r>
              <a:rPr lang="ja-JP" altLang="en-US" dirty="0"/>
              <a:t>プログラムが利用するための </a:t>
            </a:r>
            <a:r>
              <a:rPr lang="en-US" altLang="ja-JP" dirty="0"/>
              <a:t>“</a:t>
            </a:r>
            <a:r>
              <a:rPr lang="ja-JP" altLang="en-US" dirty="0"/>
              <a:t>値</a:t>
            </a:r>
            <a:r>
              <a:rPr lang="en-US" altLang="ja-JP" dirty="0"/>
              <a:t>”</a:t>
            </a:r>
            <a:r>
              <a:rPr lang="ja-JP" altLang="en-US" dirty="0"/>
              <a:t> を</a:t>
            </a:r>
            <a:endParaRPr lang="en-US" altLang="ja-JP" dirty="0"/>
          </a:p>
          <a:p>
            <a:pPr marL="0" indent="0">
              <a:buNone/>
            </a:pPr>
            <a:r>
              <a:rPr lang="ja-JP" altLang="en-US" dirty="0"/>
              <a:t>格納する場所。</a:t>
            </a:r>
            <a:endParaRPr lang="en-US" altLang="ja-JP" dirty="0"/>
          </a:p>
        </p:txBody>
      </p:sp>
      <p:pic>
        <p:nvPicPr>
          <p:cNvPr id="6" name="図 5">
            <a:extLst>
              <a:ext uri="{FF2B5EF4-FFF2-40B4-BE49-F238E27FC236}">
                <a16:creationId xmlns:a16="http://schemas.microsoft.com/office/drawing/2014/main" id="{1F401653-CA3D-E10A-67D8-102C2CEC9422}"/>
              </a:ext>
            </a:extLst>
          </p:cNvPr>
          <p:cNvPicPr>
            <a:picLocks noChangeAspect="1"/>
          </p:cNvPicPr>
          <p:nvPr/>
        </p:nvPicPr>
        <p:blipFill>
          <a:blip r:embed="rId2"/>
          <a:stretch>
            <a:fillRect/>
          </a:stretch>
        </p:blipFill>
        <p:spPr>
          <a:xfrm>
            <a:off x="1031906" y="3317052"/>
            <a:ext cx="6697010" cy="1390844"/>
          </a:xfrm>
          <a:prstGeom prst="rect">
            <a:avLst/>
          </a:prstGeom>
        </p:spPr>
      </p:pic>
      <p:sp>
        <p:nvSpPr>
          <p:cNvPr id="7" name="正方形/長方形 6">
            <a:extLst>
              <a:ext uri="{FF2B5EF4-FFF2-40B4-BE49-F238E27FC236}">
                <a16:creationId xmlns:a16="http://schemas.microsoft.com/office/drawing/2014/main" id="{8A9A799D-EAD3-1CB7-5F4E-B4281F878ABC}"/>
              </a:ext>
            </a:extLst>
          </p:cNvPr>
          <p:cNvSpPr/>
          <p:nvPr/>
        </p:nvSpPr>
        <p:spPr>
          <a:xfrm>
            <a:off x="1223676" y="3570832"/>
            <a:ext cx="846033" cy="60130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8" name="Content Placeholder 2">
            <a:extLst>
              <a:ext uri="{FF2B5EF4-FFF2-40B4-BE49-F238E27FC236}">
                <a16:creationId xmlns:a16="http://schemas.microsoft.com/office/drawing/2014/main" id="{D3D7C602-0C1B-528E-6C0E-27AE11DD12D5}"/>
              </a:ext>
            </a:extLst>
          </p:cNvPr>
          <p:cNvSpPr txBox="1">
            <a:spLocks/>
          </p:cNvSpPr>
          <p:nvPr/>
        </p:nvSpPr>
        <p:spPr>
          <a:xfrm>
            <a:off x="609600" y="4707896"/>
            <a:ext cx="7973466" cy="1957309"/>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dirty="0"/>
              <a:t>JavaScript </a:t>
            </a:r>
            <a:r>
              <a:rPr lang="ja-JP" altLang="en-US" dirty="0"/>
              <a:t>では宣言 </a:t>
            </a:r>
            <a:r>
              <a:rPr lang="en-US" altLang="ja-JP" dirty="0"/>
              <a:t>(var) </a:t>
            </a:r>
            <a:r>
              <a:rPr lang="ja-JP" altLang="en-US" dirty="0"/>
              <a:t>と</a:t>
            </a:r>
            <a:endParaRPr lang="en-US" altLang="ja-JP" dirty="0"/>
          </a:p>
          <a:p>
            <a:pPr marL="0" indent="0">
              <a:buNone/>
            </a:pPr>
            <a:r>
              <a:rPr lang="ja-JP" altLang="en-US" dirty="0"/>
              <a:t>名前 </a:t>
            </a:r>
            <a:r>
              <a:rPr lang="en-US" altLang="ja-JP" dirty="0"/>
              <a:t>(</a:t>
            </a:r>
            <a:r>
              <a:rPr lang="ja-JP" altLang="en-US" dirty="0"/>
              <a:t>ここでは </a:t>
            </a:r>
            <a:r>
              <a:rPr lang="en-US" altLang="ja-JP" dirty="0"/>
              <a:t>text1 / text2) </a:t>
            </a:r>
            <a:r>
              <a:rPr lang="ja-JP" altLang="en-US" dirty="0"/>
              <a:t>を記載することで</a:t>
            </a:r>
            <a:endParaRPr lang="en-US" altLang="ja-JP" dirty="0"/>
          </a:p>
          <a:p>
            <a:pPr marL="0" indent="0">
              <a:buNone/>
            </a:pPr>
            <a:r>
              <a:rPr lang="ja-JP" altLang="en-US" dirty="0"/>
              <a:t>定義される。</a:t>
            </a:r>
            <a:endParaRPr lang="en-US" altLang="ja-JP" dirty="0"/>
          </a:p>
        </p:txBody>
      </p:sp>
    </p:spTree>
    <p:extLst>
      <p:ext uri="{BB962C8B-B14F-4D97-AF65-F5344CB8AC3E}">
        <p14:creationId xmlns:p14="http://schemas.microsoft.com/office/powerpoint/2010/main" val="2650546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4. </a:t>
            </a:r>
            <a:r>
              <a:rPr kumimoji="1" lang="ja-JP" altLang="en-US" dirty="0"/>
              <a:t>標準関数と独自関数</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4361322"/>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dirty="0"/>
              <a:t>JavaScript </a:t>
            </a:r>
            <a:r>
              <a:rPr lang="ja-JP" altLang="en-US" dirty="0"/>
              <a:t>に限らず、関数には種別がある。</a:t>
            </a:r>
            <a:endParaRPr lang="en-US" altLang="ja-JP" dirty="0"/>
          </a:p>
          <a:p>
            <a:pPr marL="0" indent="0">
              <a:buNone/>
            </a:pPr>
            <a:r>
              <a:rPr lang="ja-JP" altLang="en-US" dirty="0"/>
              <a:t>○標準関数</a:t>
            </a:r>
            <a:endParaRPr lang="en-US" altLang="ja-JP" dirty="0"/>
          </a:p>
          <a:p>
            <a:pPr marL="0" indent="0">
              <a:buNone/>
            </a:pPr>
            <a:r>
              <a:rPr lang="ja-JP" altLang="en-US" dirty="0"/>
              <a:t>言語使用として組み込まれているため、いつでも使える関数</a:t>
            </a:r>
            <a:endParaRPr lang="en-US" altLang="ja-JP" dirty="0"/>
          </a:p>
          <a:p>
            <a:pPr marL="0" indent="0">
              <a:buNone/>
            </a:pPr>
            <a:endParaRPr lang="en-US" altLang="ja-JP" dirty="0"/>
          </a:p>
          <a:p>
            <a:pPr marL="0" indent="0">
              <a:buNone/>
            </a:pPr>
            <a:r>
              <a:rPr lang="ja-JP" altLang="en-US" dirty="0"/>
              <a:t>○独自関数</a:t>
            </a:r>
            <a:endParaRPr lang="en-US" altLang="ja-JP" dirty="0"/>
          </a:p>
          <a:p>
            <a:pPr marL="0" indent="0">
              <a:buNone/>
            </a:pPr>
            <a:r>
              <a:rPr lang="ja-JP" altLang="en-US" dirty="0"/>
              <a:t>独自に定義された処理をまとめ、名前を付けることで作成される関数</a:t>
            </a:r>
          </a:p>
        </p:txBody>
      </p:sp>
    </p:spTree>
    <p:extLst>
      <p:ext uri="{BB962C8B-B14F-4D97-AF65-F5344CB8AC3E}">
        <p14:creationId xmlns:p14="http://schemas.microsoft.com/office/powerpoint/2010/main" val="3380906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4. </a:t>
            </a:r>
            <a:r>
              <a:rPr kumimoji="1" lang="ja-JP" altLang="en-US" dirty="0"/>
              <a:t>標準関数と独自関数</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436132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altLang="ja-JP" dirty="0"/>
          </a:p>
          <a:p>
            <a:pPr marL="0" indent="0">
              <a:buNone/>
            </a:pPr>
            <a:r>
              <a:rPr lang="ja-JP" altLang="en-US" dirty="0"/>
              <a:t>黄枠 </a:t>
            </a:r>
            <a:r>
              <a:rPr lang="en-US" altLang="ja-JP" dirty="0"/>
              <a:t>: </a:t>
            </a:r>
            <a:r>
              <a:rPr lang="ja-JP" altLang="en-US" dirty="0"/>
              <a:t>標準関数</a:t>
            </a:r>
            <a:endParaRPr lang="en-US" altLang="ja-JP" dirty="0"/>
          </a:p>
          <a:p>
            <a:pPr marL="0" indent="0">
              <a:buNone/>
            </a:pPr>
            <a:r>
              <a:rPr lang="ja-JP" altLang="en-US" dirty="0"/>
              <a:t>青枠 </a:t>
            </a:r>
            <a:r>
              <a:rPr lang="en-US" altLang="ja-JP" dirty="0"/>
              <a:t>: </a:t>
            </a:r>
            <a:r>
              <a:rPr lang="ja-JP" altLang="en-US" dirty="0"/>
              <a:t>独自関数</a:t>
            </a:r>
            <a:endParaRPr lang="en-US" altLang="ja-JP" dirty="0"/>
          </a:p>
          <a:p>
            <a:pPr marL="0" indent="0">
              <a:buNone/>
            </a:pPr>
            <a:endParaRPr lang="ja-JP" altLang="en-US" dirty="0"/>
          </a:p>
        </p:txBody>
      </p:sp>
      <p:pic>
        <p:nvPicPr>
          <p:cNvPr id="4" name="図 3">
            <a:extLst>
              <a:ext uri="{FF2B5EF4-FFF2-40B4-BE49-F238E27FC236}">
                <a16:creationId xmlns:a16="http://schemas.microsoft.com/office/drawing/2014/main" id="{36723F5F-62D2-374B-F33C-6BBDE0966622}"/>
              </a:ext>
            </a:extLst>
          </p:cNvPr>
          <p:cNvPicPr>
            <a:picLocks noChangeAspect="1"/>
          </p:cNvPicPr>
          <p:nvPr/>
        </p:nvPicPr>
        <p:blipFill>
          <a:blip r:embed="rId2"/>
          <a:stretch>
            <a:fillRect/>
          </a:stretch>
        </p:blipFill>
        <p:spPr>
          <a:xfrm>
            <a:off x="3628670" y="1849372"/>
            <a:ext cx="5096586" cy="3962953"/>
          </a:xfrm>
          <a:prstGeom prst="rect">
            <a:avLst/>
          </a:prstGeom>
        </p:spPr>
      </p:pic>
    </p:spTree>
    <p:extLst>
      <p:ext uri="{BB962C8B-B14F-4D97-AF65-F5344CB8AC3E}">
        <p14:creationId xmlns:p14="http://schemas.microsoft.com/office/powerpoint/2010/main" val="1198407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4. </a:t>
            </a:r>
            <a:r>
              <a:rPr kumimoji="1" lang="ja-JP" altLang="en-US" dirty="0"/>
              <a:t>標準関数と独自関数</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436132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そもそも関数とは？</a:t>
            </a:r>
            <a:endParaRPr lang="en-US" altLang="ja-JP" dirty="0"/>
          </a:p>
          <a:p>
            <a:pPr marL="0" indent="0">
              <a:buNone/>
            </a:pPr>
            <a:endParaRPr lang="en-US" altLang="ja-JP" dirty="0"/>
          </a:p>
          <a:p>
            <a:pPr marL="0" indent="0">
              <a:buNone/>
            </a:pPr>
            <a:r>
              <a:rPr lang="ja-JP" altLang="en-US" dirty="0"/>
              <a:t>プログラミングにおいて、下記三つを行う</a:t>
            </a:r>
            <a:r>
              <a:rPr lang="ja-JP" altLang="en-US" b="0" i="0" dirty="0">
                <a:solidFill>
                  <a:srgbClr val="4D5156"/>
                </a:solidFill>
                <a:effectLst/>
                <a:latin typeface="Arial" panose="020B0604020202020204" pitchFamily="34" charset="0"/>
              </a:rPr>
              <a:t>命令のこと</a:t>
            </a:r>
            <a:endParaRPr lang="en-US" altLang="ja-JP" dirty="0"/>
          </a:p>
          <a:p>
            <a:pPr marL="0" indent="0">
              <a:buNone/>
            </a:pPr>
            <a:r>
              <a:rPr lang="en-US" altLang="ja-JP" dirty="0"/>
              <a:t>1) </a:t>
            </a:r>
            <a:r>
              <a:rPr lang="ja-JP" altLang="en-US" b="0" i="0" dirty="0">
                <a:solidFill>
                  <a:srgbClr val="4D5156"/>
                </a:solidFill>
                <a:effectLst/>
                <a:latin typeface="Arial" panose="020B0604020202020204" pitchFamily="34" charset="0"/>
              </a:rPr>
              <a:t>データを受け取る</a:t>
            </a:r>
            <a:r>
              <a:rPr lang="en-US" altLang="ja-JP" b="0" i="0" dirty="0">
                <a:solidFill>
                  <a:srgbClr val="4D5156"/>
                </a:solidFill>
                <a:effectLst/>
                <a:latin typeface="Arial" panose="020B0604020202020204" pitchFamily="34" charset="0"/>
              </a:rPr>
              <a:t>(</a:t>
            </a:r>
            <a:r>
              <a:rPr lang="ja-JP" altLang="en-US" b="0" i="0" dirty="0">
                <a:solidFill>
                  <a:srgbClr val="4D5156"/>
                </a:solidFill>
                <a:effectLst/>
                <a:latin typeface="Arial" panose="020B0604020202020204" pitchFamily="34" charset="0"/>
              </a:rPr>
              <a:t>非必須</a:t>
            </a:r>
            <a:r>
              <a:rPr lang="en-US" altLang="ja-JP" b="0" i="0" dirty="0">
                <a:solidFill>
                  <a:srgbClr val="4D5156"/>
                </a:solidFill>
                <a:effectLst/>
                <a:latin typeface="Arial" panose="020B0604020202020204" pitchFamily="34" charset="0"/>
              </a:rPr>
              <a:t>)</a:t>
            </a:r>
          </a:p>
          <a:p>
            <a:pPr marL="0" indent="0">
              <a:buNone/>
            </a:pPr>
            <a:r>
              <a:rPr lang="en-US" altLang="ja-JP" b="0" i="0" dirty="0">
                <a:solidFill>
                  <a:srgbClr val="4D5156"/>
                </a:solidFill>
                <a:effectLst/>
                <a:latin typeface="Arial" panose="020B0604020202020204" pitchFamily="34" charset="0"/>
              </a:rPr>
              <a:t>2) </a:t>
            </a:r>
            <a:r>
              <a:rPr lang="ja-JP" altLang="en-US" b="0" i="0" dirty="0">
                <a:solidFill>
                  <a:srgbClr val="4D5156"/>
                </a:solidFill>
                <a:effectLst/>
                <a:latin typeface="Arial" panose="020B0604020202020204" pitchFamily="34" charset="0"/>
              </a:rPr>
              <a:t>定められた処理を実行</a:t>
            </a:r>
            <a:r>
              <a:rPr lang="ja-JP" altLang="en-US" dirty="0">
                <a:solidFill>
                  <a:srgbClr val="4D5156"/>
                </a:solidFill>
                <a:latin typeface="Arial" panose="020B0604020202020204" pitchFamily="34" charset="0"/>
              </a:rPr>
              <a:t>する</a:t>
            </a:r>
            <a:r>
              <a:rPr lang="en-US" altLang="ja-JP" b="0" i="0" dirty="0">
                <a:solidFill>
                  <a:srgbClr val="4D5156"/>
                </a:solidFill>
                <a:effectLst/>
                <a:latin typeface="Arial" panose="020B0604020202020204" pitchFamily="34" charset="0"/>
              </a:rPr>
              <a:t>(</a:t>
            </a:r>
            <a:r>
              <a:rPr lang="ja-JP" altLang="en-US" b="0" i="0" dirty="0">
                <a:solidFill>
                  <a:srgbClr val="4D5156"/>
                </a:solidFill>
                <a:effectLst/>
                <a:latin typeface="Arial" panose="020B0604020202020204" pitchFamily="34" charset="0"/>
              </a:rPr>
              <a:t>必須</a:t>
            </a:r>
            <a:r>
              <a:rPr lang="en-US" altLang="ja-JP" b="0" i="0" dirty="0">
                <a:solidFill>
                  <a:srgbClr val="4D5156"/>
                </a:solidFill>
                <a:effectLst/>
                <a:latin typeface="Arial" panose="020B0604020202020204" pitchFamily="34" charset="0"/>
              </a:rPr>
              <a:t>)</a:t>
            </a:r>
            <a:endParaRPr lang="en-US" altLang="ja-JP" dirty="0">
              <a:solidFill>
                <a:srgbClr val="4D5156"/>
              </a:solidFill>
              <a:latin typeface="Arial" panose="020B0604020202020204" pitchFamily="34" charset="0"/>
            </a:endParaRPr>
          </a:p>
          <a:p>
            <a:pPr marL="0" indent="0">
              <a:buNone/>
            </a:pPr>
            <a:r>
              <a:rPr lang="en-US" altLang="ja-JP" b="0" i="0" dirty="0">
                <a:solidFill>
                  <a:srgbClr val="4D5156"/>
                </a:solidFill>
                <a:effectLst/>
                <a:latin typeface="Arial" panose="020B0604020202020204" pitchFamily="34" charset="0"/>
              </a:rPr>
              <a:t>3) </a:t>
            </a:r>
            <a:r>
              <a:rPr lang="ja-JP" altLang="en-US" b="0" i="0" dirty="0">
                <a:solidFill>
                  <a:srgbClr val="4D5156"/>
                </a:solidFill>
                <a:effectLst/>
                <a:latin typeface="Arial" panose="020B0604020202020204" pitchFamily="34" charset="0"/>
              </a:rPr>
              <a:t>結果を返す </a:t>
            </a:r>
            <a:r>
              <a:rPr lang="en-US" altLang="ja-JP" b="0" i="0" dirty="0">
                <a:solidFill>
                  <a:srgbClr val="4D5156"/>
                </a:solidFill>
                <a:effectLst/>
                <a:latin typeface="Arial" panose="020B0604020202020204" pitchFamily="34" charset="0"/>
              </a:rPr>
              <a:t>(</a:t>
            </a:r>
            <a:r>
              <a:rPr lang="ja-JP" altLang="en-US" b="0" i="0" dirty="0">
                <a:solidFill>
                  <a:srgbClr val="4D5156"/>
                </a:solidFill>
                <a:effectLst/>
                <a:latin typeface="Arial" panose="020B0604020202020204" pitchFamily="34" charset="0"/>
              </a:rPr>
              <a:t>非必須</a:t>
            </a:r>
            <a:r>
              <a:rPr lang="en-US" altLang="ja-JP" b="0" i="0" dirty="0">
                <a:solidFill>
                  <a:srgbClr val="4D5156"/>
                </a:solidFill>
                <a:effectLst/>
                <a:latin typeface="Arial" panose="020B0604020202020204" pitchFamily="34" charset="0"/>
              </a:rPr>
              <a:t>)</a:t>
            </a:r>
            <a:endParaRPr lang="ja-JP" altLang="en-US" dirty="0"/>
          </a:p>
        </p:txBody>
      </p:sp>
    </p:spTree>
    <p:extLst>
      <p:ext uri="{BB962C8B-B14F-4D97-AF65-F5344CB8AC3E}">
        <p14:creationId xmlns:p14="http://schemas.microsoft.com/office/powerpoint/2010/main" val="3980612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4. </a:t>
            </a:r>
            <a:r>
              <a:rPr kumimoji="1" lang="ja-JP" altLang="en-US" dirty="0"/>
              <a:t>標準関数と独自関数</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436132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○標準関数 </a:t>
            </a:r>
            <a:r>
              <a:rPr lang="en-US" altLang="ja-JP" dirty="0"/>
              <a:t>Alert() </a:t>
            </a:r>
            <a:r>
              <a:rPr lang="ja-JP" altLang="en-US" dirty="0"/>
              <a:t>の命令内容</a:t>
            </a:r>
            <a:endParaRPr lang="en-US" altLang="ja-JP" dirty="0"/>
          </a:p>
          <a:p>
            <a:pPr marL="0" indent="0">
              <a:buNone/>
            </a:pPr>
            <a:r>
              <a:rPr lang="ja-JP" altLang="en-US" dirty="0"/>
              <a:t>→ 受け取ったデータをもとに、</a:t>
            </a:r>
            <a:endParaRPr lang="en-US" altLang="ja-JP" dirty="0"/>
          </a:p>
          <a:p>
            <a:pPr marL="0" indent="0">
              <a:buNone/>
            </a:pPr>
            <a:r>
              <a:rPr lang="en-US" altLang="ja-JP" dirty="0"/>
              <a:t> </a:t>
            </a:r>
            <a:r>
              <a:rPr lang="ja-JP" altLang="en-US" dirty="0"/>
              <a:t>画面上にポップアップを表示する。</a:t>
            </a:r>
            <a:endParaRPr lang="en-US" altLang="ja-JP" dirty="0"/>
          </a:p>
          <a:p>
            <a:pPr marL="0" indent="0">
              <a:buNone/>
            </a:pPr>
            <a:endParaRPr lang="en-US" altLang="ja-JP" dirty="0"/>
          </a:p>
          <a:p>
            <a:pPr marL="0" indent="0">
              <a:buNone/>
            </a:pPr>
            <a:r>
              <a:rPr lang="ja-JP" altLang="en-US" dirty="0"/>
              <a:t>★</a:t>
            </a:r>
            <a:r>
              <a:rPr lang="en-US" altLang="ja-JP" dirty="0"/>
              <a:t>	1) </a:t>
            </a:r>
            <a:r>
              <a:rPr lang="ja-JP" altLang="en-US" b="0" i="0" dirty="0">
                <a:solidFill>
                  <a:srgbClr val="4D5156"/>
                </a:solidFill>
                <a:effectLst/>
                <a:latin typeface="Arial" panose="020B0604020202020204" pitchFamily="34" charset="0"/>
              </a:rPr>
              <a:t>データを受け取る</a:t>
            </a:r>
            <a:endParaRPr lang="en-US" altLang="ja-JP" b="0" i="0" dirty="0">
              <a:solidFill>
                <a:srgbClr val="4D5156"/>
              </a:solidFill>
              <a:effectLst/>
              <a:latin typeface="Arial" panose="020B0604020202020204" pitchFamily="34" charset="0"/>
            </a:endParaRPr>
          </a:p>
          <a:p>
            <a:pPr marL="0" indent="0">
              <a:buNone/>
            </a:pPr>
            <a:r>
              <a:rPr lang="ja-JP" altLang="en-US" dirty="0">
                <a:solidFill>
                  <a:srgbClr val="4D5156"/>
                </a:solidFill>
                <a:latin typeface="Arial" panose="020B0604020202020204" pitchFamily="34" charset="0"/>
              </a:rPr>
              <a:t>★</a:t>
            </a:r>
            <a:r>
              <a:rPr lang="en-US" altLang="ja-JP" dirty="0">
                <a:solidFill>
                  <a:srgbClr val="4D5156"/>
                </a:solidFill>
                <a:latin typeface="Arial" panose="020B0604020202020204" pitchFamily="34" charset="0"/>
              </a:rPr>
              <a:t>	</a:t>
            </a:r>
            <a:r>
              <a:rPr lang="en-US" altLang="ja-JP" b="0" i="0" dirty="0">
                <a:solidFill>
                  <a:srgbClr val="4D5156"/>
                </a:solidFill>
                <a:effectLst/>
                <a:latin typeface="Arial" panose="020B0604020202020204" pitchFamily="34" charset="0"/>
              </a:rPr>
              <a:t>2) </a:t>
            </a:r>
            <a:r>
              <a:rPr lang="ja-JP" altLang="en-US" b="0" i="0" dirty="0">
                <a:solidFill>
                  <a:srgbClr val="4D5156"/>
                </a:solidFill>
                <a:effectLst/>
                <a:latin typeface="Arial" panose="020B0604020202020204" pitchFamily="34" charset="0"/>
              </a:rPr>
              <a:t>定められた処理を実行</a:t>
            </a:r>
            <a:r>
              <a:rPr lang="ja-JP" altLang="en-US" dirty="0">
                <a:solidFill>
                  <a:srgbClr val="4D5156"/>
                </a:solidFill>
                <a:latin typeface="Arial" panose="020B0604020202020204" pitchFamily="34" charset="0"/>
              </a:rPr>
              <a:t>する</a:t>
            </a:r>
            <a:endParaRPr lang="en-US" altLang="ja-JP" dirty="0">
              <a:solidFill>
                <a:srgbClr val="4D5156"/>
              </a:solidFill>
              <a:latin typeface="Arial" panose="020B0604020202020204" pitchFamily="34" charset="0"/>
            </a:endParaRPr>
          </a:p>
          <a:p>
            <a:pPr marL="0" indent="0">
              <a:buNone/>
            </a:pPr>
            <a:r>
              <a:rPr lang="en-US" altLang="ja-JP" b="0" i="0" dirty="0">
                <a:solidFill>
                  <a:srgbClr val="4D5156"/>
                </a:solidFill>
                <a:effectLst/>
                <a:latin typeface="Arial" panose="020B0604020202020204" pitchFamily="34" charset="0"/>
              </a:rPr>
              <a:t> 	</a:t>
            </a:r>
            <a:r>
              <a:rPr lang="en-US" altLang="ja-JP" b="0" i="0" strike="sngStrike" dirty="0">
                <a:solidFill>
                  <a:srgbClr val="4D5156"/>
                </a:solidFill>
                <a:effectLst/>
                <a:latin typeface="Arial" panose="020B0604020202020204" pitchFamily="34" charset="0"/>
              </a:rPr>
              <a:t>3) </a:t>
            </a:r>
            <a:r>
              <a:rPr lang="ja-JP" altLang="en-US" b="0" i="0" strike="sngStrike" dirty="0">
                <a:solidFill>
                  <a:srgbClr val="4D5156"/>
                </a:solidFill>
                <a:effectLst/>
                <a:latin typeface="Arial" panose="020B0604020202020204" pitchFamily="34" charset="0"/>
              </a:rPr>
              <a:t>結果を返す</a:t>
            </a:r>
            <a:endParaRPr lang="ja-JP" altLang="en-US" strike="sngStrike" dirty="0"/>
          </a:p>
        </p:txBody>
      </p:sp>
    </p:spTree>
    <p:extLst>
      <p:ext uri="{BB962C8B-B14F-4D97-AF65-F5344CB8AC3E}">
        <p14:creationId xmlns:p14="http://schemas.microsoft.com/office/powerpoint/2010/main" val="918109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4. </a:t>
            </a:r>
            <a:r>
              <a:rPr kumimoji="1" lang="ja-JP" altLang="en-US" dirty="0"/>
              <a:t>標準関数と独自関数</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436132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○独自関数 </a:t>
            </a:r>
            <a:r>
              <a:rPr lang="en-US" altLang="ja-JP" dirty="0" err="1"/>
              <a:t>showAlert</a:t>
            </a:r>
            <a:r>
              <a:rPr lang="en-US" altLang="ja-JP" dirty="0"/>
              <a:t> () </a:t>
            </a:r>
            <a:r>
              <a:rPr lang="ja-JP" altLang="en-US" dirty="0"/>
              <a:t>の命令内容</a:t>
            </a:r>
            <a:endParaRPr lang="en-US" altLang="ja-JP" dirty="0"/>
          </a:p>
          <a:p>
            <a:pPr marL="0" indent="0">
              <a:buNone/>
            </a:pPr>
            <a:r>
              <a:rPr lang="ja-JP" altLang="en-US" dirty="0"/>
              <a:t>→</a:t>
            </a:r>
            <a:r>
              <a:rPr lang="en-US" altLang="ja-JP" dirty="0"/>
              <a:t> </a:t>
            </a:r>
            <a:r>
              <a:rPr lang="ja-JP" altLang="en-US" dirty="0"/>
              <a:t>画面上から計算用の数値を取得し、</a:t>
            </a:r>
            <a:endParaRPr lang="en-US" altLang="ja-JP" dirty="0"/>
          </a:p>
          <a:p>
            <a:pPr marL="0" indent="0">
              <a:buNone/>
            </a:pPr>
            <a:r>
              <a:rPr lang="en-US" altLang="ja-JP" dirty="0"/>
              <a:t>    </a:t>
            </a:r>
            <a:r>
              <a:rPr lang="ja-JP" altLang="en-US" dirty="0"/>
              <a:t>足算を行い、 </a:t>
            </a:r>
            <a:r>
              <a:rPr lang="en-US" altLang="ja-JP" dirty="0"/>
              <a:t>Alert() </a:t>
            </a:r>
            <a:r>
              <a:rPr lang="ja-JP" altLang="en-US" dirty="0"/>
              <a:t>で結果を表示する</a:t>
            </a:r>
            <a:endParaRPr lang="en-US" altLang="ja-JP" dirty="0"/>
          </a:p>
          <a:p>
            <a:pPr marL="0" indent="0">
              <a:buNone/>
            </a:pPr>
            <a:endParaRPr lang="en-US" altLang="ja-JP" dirty="0"/>
          </a:p>
          <a:p>
            <a:pPr marL="0" indent="0">
              <a:buNone/>
            </a:pPr>
            <a:r>
              <a:rPr lang="en-US" altLang="ja-JP" dirty="0"/>
              <a:t>	</a:t>
            </a:r>
            <a:r>
              <a:rPr lang="en-US" altLang="ja-JP" strike="sngStrike" dirty="0"/>
              <a:t>1) </a:t>
            </a:r>
            <a:r>
              <a:rPr lang="ja-JP" altLang="en-US" b="0" i="0" strike="sngStrike" dirty="0">
                <a:solidFill>
                  <a:srgbClr val="4D5156"/>
                </a:solidFill>
                <a:effectLst/>
                <a:latin typeface="Arial" panose="020B0604020202020204" pitchFamily="34" charset="0"/>
              </a:rPr>
              <a:t>データを受け取る</a:t>
            </a:r>
            <a:endParaRPr lang="en-US" altLang="ja-JP" b="0" i="0" strike="sngStrike" dirty="0">
              <a:solidFill>
                <a:srgbClr val="4D5156"/>
              </a:solidFill>
              <a:effectLst/>
              <a:latin typeface="Arial" panose="020B0604020202020204" pitchFamily="34" charset="0"/>
            </a:endParaRPr>
          </a:p>
          <a:p>
            <a:pPr marL="0" indent="0">
              <a:buNone/>
            </a:pPr>
            <a:r>
              <a:rPr lang="ja-JP" altLang="en-US" dirty="0">
                <a:solidFill>
                  <a:srgbClr val="4D5156"/>
                </a:solidFill>
                <a:latin typeface="Arial" panose="020B0604020202020204" pitchFamily="34" charset="0"/>
              </a:rPr>
              <a:t>★</a:t>
            </a:r>
            <a:r>
              <a:rPr lang="en-US" altLang="ja-JP" dirty="0">
                <a:solidFill>
                  <a:srgbClr val="4D5156"/>
                </a:solidFill>
                <a:latin typeface="Arial" panose="020B0604020202020204" pitchFamily="34" charset="0"/>
              </a:rPr>
              <a:t>	</a:t>
            </a:r>
            <a:r>
              <a:rPr lang="en-US" altLang="ja-JP" b="0" i="0" dirty="0">
                <a:solidFill>
                  <a:srgbClr val="4D5156"/>
                </a:solidFill>
                <a:effectLst/>
                <a:latin typeface="Arial" panose="020B0604020202020204" pitchFamily="34" charset="0"/>
              </a:rPr>
              <a:t>2) </a:t>
            </a:r>
            <a:r>
              <a:rPr lang="ja-JP" altLang="en-US" b="0" i="0" dirty="0">
                <a:solidFill>
                  <a:srgbClr val="4D5156"/>
                </a:solidFill>
                <a:effectLst/>
                <a:latin typeface="Arial" panose="020B0604020202020204" pitchFamily="34" charset="0"/>
              </a:rPr>
              <a:t>定められた処理を実行</a:t>
            </a:r>
            <a:r>
              <a:rPr lang="ja-JP" altLang="en-US" dirty="0">
                <a:solidFill>
                  <a:srgbClr val="4D5156"/>
                </a:solidFill>
                <a:latin typeface="Arial" panose="020B0604020202020204" pitchFamily="34" charset="0"/>
              </a:rPr>
              <a:t>する</a:t>
            </a:r>
            <a:endParaRPr lang="en-US" altLang="ja-JP" dirty="0">
              <a:solidFill>
                <a:srgbClr val="4D5156"/>
              </a:solidFill>
              <a:latin typeface="Arial" panose="020B0604020202020204" pitchFamily="34" charset="0"/>
            </a:endParaRPr>
          </a:p>
          <a:p>
            <a:pPr marL="0" indent="0">
              <a:buNone/>
            </a:pPr>
            <a:r>
              <a:rPr lang="en-US" altLang="ja-JP" b="0" i="0" dirty="0">
                <a:solidFill>
                  <a:srgbClr val="4D5156"/>
                </a:solidFill>
                <a:effectLst/>
                <a:latin typeface="Arial" panose="020B0604020202020204" pitchFamily="34" charset="0"/>
              </a:rPr>
              <a:t> 	</a:t>
            </a:r>
            <a:r>
              <a:rPr lang="en-US" altLang="ja-JP" b="0" i="0" strike="sngStrike" dirty="0">
                <a:solidFill>
                  <a:srgbClr val="4D5156"/>
                </a:solidFill>
                <a:effectLst/>
                <a:latin typeface="Arial" panose="020B0604020202020204" pitchFamily="34" charset="0"/>
              </a:rPr>
              <a:t>3) </a:t>
            </a:r>
            <a:r>
              <a:rPr lang="ja-JP" altLang="en-US" b="0" i="0" strike="sngStrike" dirty="0">
                <a:solidFill>
                  <a:srgbClr val="4D5156"/>
                </a:solidFill>
                <a:effectLst/>
                <a:latin typeface="Arial" panose="020B0604020202020204" pitchFamily="34" charset="0"/>
              </a:rPr>
              <a:t>結果を返す</a:t>
            </a:r>
            <a:endParaRPr lang="ja-JP" altLang="en-US" strike="sngStrike" dirty="0"/>
          </a:p>
        </p:txBody>
      </p:sp>
    </p:spTree>
    <p:extLst>
      <p:ext uri="{BB962C8B-B14F-4D97-AF65-F5344CB8AC3E}">
        <p14:creationId xmlns:p14="http://schemas.microsoft.com/office/powerpoint/2010/main" val="3449266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4. </a:t>
            </a:r>
            <a:r>
              <a:rPr kumimoji="1" lang="ja-JP" altLang="en-US" dirty="0"/>
              <a:t>標準関数と独自関数</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436132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基本的にプログラミングとは</a:t>
            </a:r>
            <a:endParaRPr lang="en-US" altLang="ja-JP" dirty="0"/>
          </a:p>
          <a:p>
            <a:pPr marL="0" indent="0">
              <a:buNone/>
            </a:pPr>
            <a:endParaRPr lang="en-US" altLang="ja-JP" dirty="0"/>
          </a:p>
          <a:p>
            <a:pPr marL="0" indent="0" algn="ctr">
              <a:buNone/>
            </a:pPr>
            <a:r>
              <a:rPr lang="ja-JP" altLang="en-US" dirty="0"/>
              <a:t>目的を達成できる独自関数を</a:t>
            </a:r>
            <a:endParaRPr lang="en-US" altLang="ja-JP" dirty="0"/>
          </a:p>
          <a:p>
            <a:pPr marL="0" indent="0" algn="ctr">
              <a:buNone/>
            </a:pPr>
            <a:r>
              <a:rPr lang="ja-JP" altLang="en-US" dirty="0"/>
              <a:t>標準関数と制御構造を利用して作りあげる</a:t>
            </a:r>
            <a:endParaRPr lang="en-US" altLang="ja-JP" dirty="0"/>
          </a:p>
          <a:p>
            <a:pPr marL="0" indent="0">
              <a:buNone/>
            </a:pPr>
            <a:endParaRPr lang="en-US" altLang="ja-JP" dirty="0"/>
          </a:p>
          <a:p>
            <a:pPr marL="0" indent="0" algn="r">
              <a:buNone/>
            </a:pPr>
            <a:r>
              <a:rPr lang="ja-JP" altLang="en-US" dirty="0"/>
              <a:t>ことに他ならない</a:t>
            </a:r>
          </a:p>
        </p:txBody>
      </p:sp>
    </p:spTree>
    <p:extLst>
      <p:ext uri="{BB962C8B-B14F-4D97-AF65-F5344CB8AC3E}">
        <p14:creationId xmlns:p14="http://schemas.microsoft.com/office/powerpoint/2010/main" val="4041051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4. </a:t>
            </a:r>
            <a:r>
              <a:rPr kumimoji="1" lang="ja-JP" altLang="en-US" dirty="0"/>
              <a:t>標準関数と独自関数</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436132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引数 </a:t>
            </a:r>
            <a:r>
              <a:rPr lang="en-US" altLang="ja-JP" dirty="0"/>
              <a:t>(1. </a:t>
            </a:r>
            <a:r>
              <a:rPr lang="ja-JP" altLang="en-US" dirty="0"/>
              <a:t>データを受け取る</a:t>
            </a:r>
            <a:r>
              <a:rPr lang="en-US" altLang="ja-JP" dirty="0"/>
              <a:t>) </a:t>
            </a:r>
            <a:r>
              <a:rPr lang="ja-JP" altLang="en-US" dirty="0"/>
              <a:t>と </a:t>
            </a:r>
            <a:endParaRPr lang="en-US" altLang="ja-JP" dirty="0"/>
          </a:p>
          <a:p>
            <a:pPr marL="0" indent="0">
              <a:buNone/>
            </a:pPr>
            <a:r>
              <a:rPr lang="ja-JP" altLang="en-US" dirty="0"/>
              <a:t>戻り値 </a:t>
            </a:r>
            <a:r>
              <a:rPr lang="en-US" altLang="ja-JP" dirty="0"/>
              <a:t>(3.</a:t>
            </a:r>
            <a:r>
              <a:rPr lang="ja-JP" altLang="en-US" b="0" i="0" dirty="0">
                <a:solidFill>
                  <a:srgbClr val="4D5156"/>
                </a:solidFill>
                <a:effectLst/>
                <a:latin typeface="Arial" panose="020B0604020202020204" pitchFamily="34" charset="0"/>
              </a:rPr>
              <a:t>結果を返す</a:t>
            </a:r>
            <a:r>
              <a:rPr lang="en-US" altLang="ja-JP" dirty="0"/>
              <a:t>)</a:t>
            </a:r>
            <a:r>
              <a:rPr lang="ja-JP" altLang="en-US" dirty="0"/>
              <a:t> をすべて満たす関数を</a:t>
            </a:r>
            <a:endParaRPr lang="en-US" altLang="ja-JP" dirty="0"/>
          </a:p>
          <a:p>
            <a:pPr marL="0" indent="0">
              <a:buNone/>
            </a:pPr>
            <a:r>
              <a:rPr lang="ja-JP" altLang="en-US" dirty="0"/>
              <a:t>用意するようコードを変更する</a:t>
            </a:r>
          </a:p>
        </p:txBody>
      </p:sp>
      <p:sp>
        <p:nvSpPr>
          <p:cNvPr id="6" name="正方形/長方形 5">
            <a:extLst>
              <a:ext uri="{FF2B5EF4-FFF2-40B4-BE49-F238E27FC236}">
                <a16:creationId xmlns:a16="http://schemas.microsoft.com/office/drawing/2014/main" id="{D9A18253-F55F-FB66-931A-0D419D5E638F}"/>
              </a:ext>
            </a:extLst>
          </p:cNvPr>
          <p:cNvSpPr/>
          <p:nvPr/>
        </p:nvSpPr>
        <p:spPr>
          <a:xfrm>
            <a:off x="1178016" y="3462364"/>
            <a:ext cx="3710177" cy="203863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t>&lt;script&gt;</a:t>
            </a:r>
          </a:p>
          <a:p>
            <a:r>
              <a:rPr kumimoji="1" lang="en-US" altLang="ja-JP" sz="1000" dirty="0"/>
              <a:t>function </a:t>
            </a:r>
            <a:r>
              <a:rPr kumimoji="1" lang="en-US" altLang="ja-JP" sz="1000" dirty="0" err="1"/>
              <a:t>showAlert</a:t>
            </a:r>
            <a:r>
              <a:rPr kumimoji="1" lang="en-US" altLang="ja-JP" sz="1000" dirty="0"/>
              <a:t>() {</a:t>
            </a:r>
          </a:p>
          <a:p>
            <a:r>
              <a:rPr kumimoji="1" lang="en-US" altLang="ja-JP" sz="1000" dirty="0"/>
              <a:t>    var text1 = </a:t>
            </a:r>
            <a:r>
              <a:rPr kumimoji="1" lang="en-US" altLang="ja-JP" sz="1000" dirty="0" err="1"/>
              <a:t>parseFloat</a:t>
            </a:r>
            <a:r>
              <a:rPr kumimoji="1" lang="en-US" altLang="ja-JP" sz="1000" dirty="0"/>
              <a:t>(</a:t>
            </a:r>
            <a:r>
              <a:rPr kumimoji="1" lang="en-US" altLang="ja-JP" sz="1000" dirty="0" err="1"/>
              <a:t>document.getElementById</a:t>
            </a:r>
            <a:r>
              <a:rPr kumimoji="1" lang="en-US" altLang="ja-JP" sz="1000" dirty="0"/>
              <a:t>('textbox1').value);</a:t>
            </a:r>
          </a:p>
          <a:p>
            <a:r>
              <a:rPr kumimoji="1" lang="en-US" altLang="ja-JP" sz="1000" dirty="0"/>
              <a:t>    var text2 = </a:t>
            </a:r>
            <a:r>
              <a:rPr kumimoji="1" lang="en-US" altLang="ja-JP" sz="1000" dirty="0" err="1"/>
              <a:t>parseFloat</a:t>
            </a:r>
            <a:r>
              <a:rPr kumimoji="1" lang="en-US" altLang="ja-JP" sz="1000" dirty="0"/>
              <a:t>(</a:t>
            </a:r>
            <a:r>
              <a:rPr kumimoji="1" lang="en-US" altLang="ja-JP" sz="1000" dirty="0" err="1"/>
              <a:t>document.getElementById</a:t>
            </a:r>
            <a:r>
              <a:rPr kumimoji="1" lang="en-US" altLang="ja-JP" sz="1000" dirty="0"/>
              <a:t>('textbox2').value);</a:t>
            </a:r>
          </a:p>
          <a:p>
            <a:r>
              <a:rPr kumimoji="1" lang="en-US" altLang="ja-JP" sz="1000" dirty="0"/>
              <a:t>    var result = </a:t>
            </a:r>
            <a:r>
              <a:rPr kumimoji="1" lang="en-US" altLang="ja-JP" sz="1000" dirty="0" err="1"/>
              <a:t>calculater</a:t>
            </a:r>
            <a:r>
              <a:rPr kumimoji="1" lang="en-US" altLang="ja-JP" sz="1000" dirty="0"/>
              <a:t> (text1, text2);</a:t>
            </a:r>
          </a:p>
          <a:p>
            <a:r>
              <a:rPr kumimoji="1" lang="en-US" altLang="ja-JP" sz="1000" dirty="0"/>
              <a:t>    alert(result);</a:t>
            </a:r>
          </a:p>
          <a:p>
            <a:r>
              <a:rPr kumimoji="1" lang="en-US" altLang="ja-JP" sz="1000" dirty="0"/>
              <a:t>}</a:t>
            </a:r>
          </a:p>
          <a:p>
            <a:endParaRPr kumimoji="1" lang="en-US" altLang="ja-JP" sz="1000" dirty="0"/>
          </a:p>
          <a:p>
            <a:r>
              <a:rPr kumimoji="1" lang="en-US" altLang="ja-JP" sz="1000" dirty="0"/>
              <a:t>function </a:t>
            </a:r>
            <a:r>
              <a:rPr kumimoji="1" lang="en-US" altLang="ja-JP" sz="1000" dirty="0" err="1"/>
              <a:t>calculater</a:t>
            </a:r>
            <a:r>
              <a:rPr kumimoji="1" lang="en-US" altLang="ja-JP" sz="1000" dirty="0"/>
              <a:t>(arg1, arg2) {</a:t>
            </a:r>
          </a:p>
          <a:p>
            <a:r>
              <a:rPr kumimoji="1" lang="en-US" altLang="ja-JP" sz="1000" dirty="0"/>
              <a:t>    return arg1 + arg2;</a:t>
            </a:r>
          </a:p>
          <a:p>
            <a:r>
              <a:rPr kumimoji="1" lang="en-US" altLang="ja-JP" sz="1000" dirty="0"/>
              <a:t>}</a:t>
            </a:r>
          </a:p>
          <a:p>
            <a:r>
              <a:rPr kumimoji="1" lang="en-US" altLang="ja-JP" sz="1000" dirty="0"/>
              <a:t>&lt;/script&gt;</a:t>
            </a:r>
            <a:endParaRPr kumimoji="1" lang="ja-JP" altLang="en-US" sz="1000" dirty="0"/>
          </a:p>
        </p:txBody>
      </p:sp>
      <p:pic>
        <p:nvPicPr>
          <p:cNvPr id="4" name="図 3">
            <a:extLst>
              <a:ext uri="{FF2B5EF4-FFF2-40B4-BE49-F238E27FC236}">
                <a16:creationId xmlns:a16="http://schemas.microsoft.com/office/drawing/2014/main" id="{2A87FE84-BE3C-39A5-0C13-D1C5DA6C0363}"/>
              </a:ext>
            </a:extLst>
          </p:cNvPr>
          <p:cNvPicPr>
            <a:picLocks noChangeAspect="1"/>
          </p:cNvPicPr>
          <p:nvPr/>
        </p:nvPicPr>
        <p:blipFill>
          <a:blip r:embed="rId2"/>
          <a:stretch>
            <a:fillRect/>
          </a:stretch>
        </p:blipFill>
        <p:spPr>
          <a:xfrm>
            <a:off x="878147" y="3462363"/>
            <a:ext cx="4772691" cy="2038635"/>
          </a:xfrm>
          <a:prstGeom prst="rect">
            <a:avLst/>
          </a:prstGeom>
        </p:spPr>
      </p:pic>
    </p:spTree>
    <p:extLst>
      <p:ext uri="{BB962C8B-B14F-4D97-AF65-F5344CB8AC3E}">
        <p14:creationId xmlns:p14="http://schemas.microsoft.com/office/powerpoint/2010/main" val="1030683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4. </a:t>
            </a:r>
            <a:r>
              <a:rPr kumimoji="1" lang="ja-JP" altLang="en-US" dirty="0"/>
              <a:t>標準関数と独自関数</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17638"/>
            <a:ext cx="7973466" cy="49501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独自関数 </a:t>
            </a:r>
            <a:r>
              <a:rPr lang="en-US" altLang="ja-JP" dirty="0"/>
              <a:t>“</a:t>
            </a:r>
            <a:r>
              <a:rPr lang="en-US" altLang="ja-JP" dirty="0" err="1"/>
              <a:t>calculater</a:t>
            </a:r>
            <a:r>
              <a:rPr lang="en-US" altLang="ja-JP" dirty="0"/>
              <a:t>()” </a:t>
            </a:r>
            <a:r>
              <a:rPr lang="ja-JP" altLang="en-US" dirty="0"/>
              <a:t>の構造</a:t>
            </a:r>
            <a:endParaRPr lang="en-US" altLang="ja-JP" dirty="0"/>
          </a:p>
          <a:p>
            <a:pPr marL="0" indent="0">
              <a:buNone/>
            </a:pPr>
            <a:endParaRPr lang="en-US" altLang="ja-JP" dirty="0"/>
          </a:p>
          <a:p>
            <a:pPr marL="0" indent="0">
              <a:buNone/>
            </a:pPr>
            <a:r>
              <a:rPr lang="en-US" altLang="ja-JP" dirty="0"/>
              <a:t>function </a:t>
            </a:r>
            <a:r>
              <a:rPr lang="en-US" altLang="ja-JP" dirty="0" err="1"/>
              <a:t>calculater</a:t>
            </a:r>
            <a:r>
              <a:rPr lang="en-US" altLang="ja-JP" dirty="0"/>
              <a:t>(arg1, arg2) {</a:t>
            </a:r>
          </a:p>
          <a:p>
            <a:pPr marL="0" indent="0">
              <a:buNone/>
            </a:pPr>
            <a:r>
              <a:rPr lang="en-US" altLang="ja-JP" dirty="0"/>
              <a:t>    return arg1 + arg2;</a:t>
            </a:r>
          </a:p>
          <a:p>
            <a:pPr marL="0" indent="0">
              <a:buNone/>
            </a:pPr>
            <a:r>
              <a:rPr lang="en-US" altLang="ja-JP" dirty="0"/>
              <a:t>}</a:t>
            </a:r>
          </a:p>
          <a:p>
            <a:pPr marL="0" indent="0">
              <a:buNone/>
            </a:pPr>
            <a:endParaRPr lang="en-US" altLang="ja-JP" dirty="0"/>
          </a:p>
          <a:p>
            <a:pPr marL="0" indent="0">
              <a:buNone/>
            </a:pPr>
            <a:r>
              <a:rPr lang="en-US" altLang="ja-JP" dirty="0"/>
              <a:t>arg1 : </a:t>
            </a:r>
            <a:r>
              <a:rPr lang="ja-JP" altLang="en-US" dirty="0"/>
              <a:t>第１引数  </a:t>
            </a:r>
            <a:r>
              <a:rPr lang="en-US" altLang="ja-JP" dirty="0"/>
              <a:t>arg2 : </a:t>
            </a:r>
            <a:r>
              <a:rPr lang="ja-JP" altLang="en-US" dirty="0"/>
              <a:t>第２引数</a:t>
            </a:r>
            <a:endParaRPr lang="en-US" altLang="ja-JP" dirty="0"/>
          </a:p>
          <a:p>
            <a:pPr marL="0" indent="0">
              <a:buNone/>
            </a:pPr>
            <a:r>
              <a:rPr lang="en-US" altLang="ja-JP" dirty="0"/>
              <a:t>return </a:t>
            </a:r>
            <a:r>
              <a:rPr lang="ja-JP" altLang="en-US" dirty="0"/>
              <a:t>○○ </a:t>
            </a:r>
            <a:r>
              <a:rPr lang="en-US" altLang="ja-JP" dirty="0"/>
              <a:t>: </a:t>
            </a:r>
            <a:r>
              <a:rPr lang="ja-JP" altLang="en-US" dirty="0"/>
              <a:t>戻り値</a:t>
            </a:r>
          </a:p>
        </p:txBody>
      </p:sp>
      <p:sp>
        <p:nvSpPr>
          <p:cNvPr id="3" name="正方形/長方形 2">
            <a:extLst>
              <a:ext uri="{FF2B5EF4-FFF2-40B4-BE49-F238E27FC236}">
                <a16:creationId xmlns:a16="http://schemas.microsoft.com/office/drawing/2014/main" id="{A31CE8E1-6C2F-5FD9-EA10-F333ED7B01D3}"/>
              </a:ext>
            </a:extLst>
          </p:cNvPr>
          <p:cNvSpPr/>
          <p:nvPr/>
        </p:nvSpPr>
        <p:spPr>
          <a:xfrm>
            <a:off x="3879791" y="2560638"/>
            <a:ext cx="846033" cy="60130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5610495B-7609-46EE-CE19-32B791A75D77}"/>
              </a:ext>
            </a:extLst>
          </p:cNvPr>
          <p:cNvSpPr/>
          <p:nvPr/>
        </p:nvSpPr>
        <p:spPr>
          <a:xfrm>
            <a:off x="4844041" y="2578442"/>
            <a:ext cx="719271" cy="58350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6C017008-7939-1813-B967-1D0DF641834C}"/>
              </a:ext>
            </a:extLst>
          </p:cNvPr>
          <p:cNvSpPr/>
          <p:nvPr/>
        </p:nvSpPr>
        <p:spPr>
          <a:xfrm>
            <a:off x="2177753" y="3286888"/>
            <a:ext cx="1898591" cy="40916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00589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5. Html Object </a:t>
            </a:r>
            <a:r>
              <a:rPr kumimoji="1" lang="ja-JP" altLang="en-US" dirty="0"/>
              <a:t>の </a:t>
            </a:r>
            <a:r>
              <a:rPr kumimoji="1" lang="en-US" altLang="ja-JP" dirty="0"/>
              <a:t>DOM </a:t>
            </a:r>
            <a:r>
              <a:rPr kumimoji="1" lang="ja-JP" altLang="en-US" dirty="0"/>
              <a:t>操作</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2"/>
            <a:ext cx="7973466" cy="4872885"/>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 </a:t>
            </a:r>
            <a:r>
              <a:rPr lang="en-US" altLang="ja-JP" dirty="0"/>
              <a:t>Html </a:t>
            </a:r>
            <a:r>
              <a:rPr lang="ja-JP" altLang="en-US" dirty="0"/>
              <a:t>上で表示されるすべてのものは</a:t>
            </a:r>
            <a:endParaRPr lang="en-US" altLang="ja-JP" dirty="0"/>
          </a:p>
          <a:p>
            <a:pPr marL="0" indent="0">
              <a:buNone/>
            </a:pPr>
            <a:r>
              <a:rPr lang="en-US" altLang="ja-JP" dirty="0"/>
              <a:t>	Object </a:t>
            </a:r>
            <a:r>
              <a:rPr lang="ja-JP" altLang="en-US" dirty="0"/>
              <a:t>と呼ばれるものである。</a:t>
            </a:r>
            <a:endParaRPr lang="en-US" altLang="ja-JP" dirty="0"/>
          </a:p>
          <a:p>
            <a:pPr marL="0" indent="0">
              <a:buNone/>
            </a:pPr>
            <a:endParaRPr lang="en-US" altLang="ja-JP" dirty="0"/>
          </a:p>
          <a:p>
            <a:pPr marL="0" indent="0">
              <a:buNone/>
            </a:pPr>
            <a:r>
              <a:rPr lang="ja-JP" altLang="en-US" dirty="0"/>
              <a:t>・ </a:t>
            </a:r>
            <a:r>
              <a:rPr lang="en-US" altLang="ja-JP" dirty="0"/>
              <a:t>Object </a:t>
            </a:r>
            <a:r>
              <a:rPr lang="ja-JP" altLang="en-US" dirty="0"/>
              <a:t>は </a:t>
            </a:r>
            <a:r>
              <a:rPr lang="en-US" altLang="ja-JP" dirty="0"/>
              <a:t>DOM </a:t>
            </a:r>
            <a:r>
              <a:rPr lang="ja-JP" altLang="en-US" dirty="0"/>
              <a:t>を用いて操作 </a:t>
            </a:r>
            <a:r>
              <a:rPr lang="en-US" altLang="ja-JP" dirty="0"/>
              <a:t>※1</a:t>
            </a:r>
            <a:r>
              <a:rPr lang="ja-JP" altLang="en-US" dirty="0"/>
              <a:t>ができる。</a:t>
            </a:r>
            <a:endParaRPr lang="en-US" altLang="ja-JP" dirty="0"/>
          </a:p>
          <a:p>
            <a:pPr marL="0" indent="0">
              <a:buNone/>
            </a:pPr>
            <a:endParaRPr lang="en-US" altLang="ja-JP" dirty="0"/>
          </a:p>
          <a:p>
            <a:pPr marL="0" indent="0">
              <a:buNone/>
            </a:pPr>
            <a:r>
              <a:rPr lang="ja-JP" altLang="en-US" dirty="0"/>
              <a:t>・ </a:t>
            </a:r>
            <a:r>
              <a:rPr lang="en-US" altLang="ja-JP" dirty="0"/>
              <a:t>DOM (Document Object Model) </a:t>
            </a:r>
            <a:r>
              <a:rPr lang="ja-JP" altLang="en-US" dirty="0"/>
              <a:t>とは、</a:t>
            </a:r>
            <a:endParaRPr lang="en-US" altLang="ja-JP" dirty="0"/>
          </a:p>
          <a:p>
            <a:pPr marL="0" indent="0">
              <a:buNone/>
            </a:pPr>
            <a:r>
              <a:rPr lang="ja-JP" altLang="en-US" dirty="0"/>
              <a:t>　プログラミング言語から </a:t>
            </a:r>
            <a:r>
              <a:rPr lang="en-US" altLang="ja-JP" dirty="0"/>
              <a:t>Object </a:t>
            </a:r>
            <a:r>
              <a:rPr lang="ja-JP" altLang="en-US" dirty="0"/>
              <a:t>にアクセスするための</a:t>
            </a:r>
            <a:r>
              <a:rPr lang="en-US" altLang="ja-JP" dirty="0"/>
              <a:t>API ※ </a:t>
            </a:r>
            <a:r>
              <a:rPr lang="ja-JP" altLang="en-US" dirty="0"/>
              <a:t>のことである</a:t>
            </a:r>
            <a:endParaRPr lang="en-US" altLang="ja-JP" dirty="0"/>
          </a:p>
          <a:p>
            <a:pPr marL="0" indent="0">
              <a:buNone/>
            </a:pPr>
            <a:endParaRPr lang="en-US" altLang="ja-JP" dirty="0"/>
          </a:p>
          <a:p>
            <a:pPr marL="0" indent="0">
              <a:buNone/>
            </a:pPr>
            <a:r>
              <a:rPr lang="en-US" altLang="ja-JP" dirty="0"/>
              <a:t>※1 	</a:t>
            </a:r>
            <a:r>
              <a:rPr lang="ja-JP" altLang="en-US" dirty="0"/>
              <a:t>値の読み取り及び変更</a:t>
            </a:r>
            <a:endParaRPr lang="en-US" altLang="ja-JP" dirty="0"/>
          </a:p>
          <a:p>
            <a:pPr marL="0" indent="0">
              <a:buNone/>
            </a:pPr>
            <a:r>
              <a:rPr lang="en-US" altLang="ja-JP" dirty="0"/>
              <a:t>※2 	Application Programming Interface</a:t>
            </a:r>
            <a:r>
              <a:rPr lang="ja-JP" altLang="en-US" dirty="0"/>
              <a:t>。</a:t>
            </a:r>
            <a:endParaRPr lang="en-US" altLang="ja-JP" dirty="0"/>
          </a:p>
          <a:p>
            <a:pPr marL="0" indent="0">
              <a:buNone/>
            </a:pPr>
            <a:r>
              <a:rPr lang="en-US" altLang="ja-JP" dirty="0"/>
              <a:t>		</a:t>
            </a:r>
            <a:r>
              <a:rPr lang="ja-JP" altLang="en-US" dirty="0"/>
              <a:t>現時点ではツールや手段と考えて頂ければ。</a:t>
            </a:r>
          </a:p>
        </p:txBody>
      </p:sp>
    </p:spTree>
    <p:extLst>
      <p:ext uri="{BB962C8B-B14F-4D97-AF65-F5344CB8AC3E}">
        <p14:creationId xmlns:p14="http://schemas.microsoft.com/office/powerpoint/2010/main" val="3444347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5. Html Object </a:t>
            </a:r>
            <a:r>
              <a:rPr kumimoji="1" lang="ja-JP" altLang="en-US" dirty="0"/>
              <a:t>の </a:t>
            </a:r>
            <a:r>
              <a:rPr kumimoji="1" lang="en-US" altLang="ja-JP" dirty="0"/>
              <a:t>DOM </a:t>
            </a:r>
            <a:r>
              <a:rPr kumimoji="1" lang="ja-JP" altLang="en-US" dirty="0"/>
              <a:t>操作</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436132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 コードの変更</a:t>
            </a:r>
          </a:p>
        </p:txBody>
      </p:sp>
      <p:sp>
        <p:nvSpPr>
          <p:cNvPr id="6" name="正方形/長方形 5">
            <a:extLst>
              <a:ext uri="{FF2B5EF4-FFF2-40B4-BE49-F238E27FC236}">
                <a16:creationId xmlns:a16="http://schemas.microsoft.com/office/drawing/2014/main" id="{3DEB1DAE-B5F3-C8CB-D69E-A19E9FD20B48}"/>
              </a:ext>
            </a:extLst>
          </p:cNvPr>
          <p:cNvSpPr/>
          <p:nvPr/>
        </p:nvSpPr>
        <p:spPr>
          <a:xfrm>
            <a:off x="3777240" y="1451003"/>
            <a:ext cx="4805826" cy="477743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t>&lt;!DOCTYPE html&gt;</a:t>
            </a:r>
          </a:p>
          <a:p>
            <a:r>
              <a:rPr kumimoji="1" lang="en-US" altLang="ja-JP" sz="1000" dirty="0"/>
              <a:t>&lt;html lang="ja"&gt;</a:t>
            </a:r>
          </a:p>
          <a:p>
            <a:r>
              <a:rPr kumimoji="1" lang="en-US" altLang="ja-JP" sz="1000" dirty="0"/>
              <a:t>&lt;head&gt;</a:t>
            </a:r>
          </a:p>
          <a:p>
            <a:r>
              <a:rPr kumimoji="1" lang="en-US" altLang="ja-JP" sz="1000" dirty="0"/>
              <a:t>&lt;meta charset="UTF-8"&gt;</a:t>
            </a:r>
          </a:p>
          <a:p>
            <a:r>
              <a:rPr kumimoji="1" lang="en-US" altLang="ja-JP" sz="1000" dirty="0"/>
              <a:t>&lt;title&gt;</a:t>
            </a:r>
            <a:r>
              <a:rPr kumimoji="1" lang="ja-JP" altLang="en-US" sz="1000" dirty="0"/>
              <a:t>テキストボックスとボタン</a:t>
            </a:r>
            <a:r>
              <a:rPr kumimoji="1" lang="en-US" altLang="ja-JP" sz="1000" dirty="0"/>
              <a:t>&lt;/title&gt;</a:t>
            </a:r>
          </a:p>
          <a:p>
            <a:r>
              <a:rPr kumimoji="1" lang="en-US" altLang="ja-JP" sz="1000" dirty="0"/>
              <a:t>&lt;script&gt;</a:t>
            </a:r>
          </a:p>
          <a:p>
            <a:r>
              <a:rPr kumimoji="1" lang="en-US" altLang="ja-JP" sz="1000" dirty="0"/>
              <a:t>function </a:t>
            </a:r>
            <a:r>
              <a:rPr kumimoji="1" lang="en-US" altLang="ja-JP" sz="1000" dirty="0" err="1"/>
              <a:t>showAlert</a:t>
            </a:r>
            <a:r>
              <a:rPr kumimoji="1" lang="en-US" altLang="ja-JP" sz="1000" dirty="0"/>
              <a:t>() {</a:t>
            </a:r>
          </a:p>
          <a:p>
            <a:r>
              <a:rPr kumimoji="1" lang="en-US" altLang="ja-JP" sz="1000" dirty="0"/>
              <a:t>    var text1 = </a:t>
            </a:r>
            <a:r>
              <a:rPr kumimoji="1" lang="en-US" altLang="ja-JP" sz="1000" dirty="0" err="1"/>
              <a:t>parseFloat</a:t>
            </a:r>
            <a:r>
              <a:rPr kumimoji="1" lang="en-US" altLang="ja-JP" sz="1000" dirty="0"/>
              <a:t>(</a:t>
            </a:r>
            <a:r>
              <a:rPr kumimoji="1" lang="en-US" altLang="ja-JP" sz="1000" dirty="0" err="1"/>
              <a:t>document.getElementById</a:t>
            </a:r>
            <a:r>
              <a:rPr kumimoji="1" lang="en-US" altLang="ja-JP" sz="1000" dirty="0"/>
              <a:t>('textbox1').value);</a:t>
            </a:r>
          </a:p>
          <a:p>
            <a:r>
              <a:rPr kumimoji="1" lang="en-US" altLang="ja-JP" sz="1000" dirty="0"/>
              <a:t>    var text2 = </a:t>
            </a:r>
            <a:r>
              <a:rPr kumimoji="1" lang="en-US" altLang="ja-JP" sz="1000" dirty="0" err="1"/>
              <a:t>parseFloat</a:t>
            </a:r>
            <a:r>
              <a:rPr kumimoji="1" lang="en-US" altLang="ja-JP" sz="1000" dirty="0"/>
              <a:t>(</a:t>
            </a:r>
            <a:r>
              <a:rPr kumimoji="1" lang="en-US" altLang="ja-JP" sz="1000" dirty="0" err="1"/>
              <a:t>document.getElementById</a:t>
            </a:r>
            <a:r>
              <a:rPr kumimoji="1" lang="en-US" altLang="ja-JP" sz="1000" dirty="0"/>
              <a:t>('textbox2').value);</a:t>
            </a:r>
          </a:p>
          <a:p>
            <a:r>
              <a:rPr kumimoji="1" lang="en-US" altLang="ja-JP" sz="1000" dirty="0"/>
              <a:t>    var result = </a:t>
            </a:r>
            <a:r>
              <a:rPr kumimoji="1" lang="en-US" altLang="ja-JP" sz="1000" dirty="0" err="1"/>
              <a:t>calculater</a:t>
            </a:r>
            <a:r>
              <a:rPr kumimoji="1" lang="en-US" altLang="ja-JP" sz="1000" dirty="0"/>
              <a:t> (text1, text2);</a:t>
            </a:r>
          </a:p>
          <a:p>
            <a:r>
              <a:rPr kumimoji="1" lang="en-US" altLang="ja-JP" sz="1000" dirty="0"/>
              <a:t>    </a:t>
            </a:r>
            <a:r>
              <a:rPr kumimoji="1" lang="en-US" altLang="ja-JP" sz="1000" dirty="0" err="1"/>
              <a:t>document.getElementById</a:t>
            </a:r>
            <a:r>
              <a:rPr kumimoji="1" lang="en-US" altLang="ja-JP" sz="1000" dirty="0"/>
              <a:t>('result').</a:t>
            </a:r>
            <a:r>
              <a:rPr kumimoji="1" lang="en-US" altLang="ja-JP" sz="1000" dirty="0" err="1"/>
              <a:t>innerHTML</a:t>
            </a:r>
            <a:r>
              <a:rPr kumimoji="1" lang="en-US" altLang="ja-JP" sz="1000" dirty="0"/>
              <a:t> = '</a:t>
            </a:r>
            <a:r>
              <a:rPr kumimoji="1" lang="ja-JP" altLang="en-US" sz="1000" dirty="0"/>
              <a:t>計算結果</a:t>
            </a:r>
            <a:r>
              <a:rPr kumimoji="1" lang="en-US" altLang="ja-JP" sz="1000" dirty="0"/>
              <a:t>: ' + result;</a:t>
            </a:r>
          </a:p>
          <a:p>
            <a:r>
              <a:rPr kumimoji="1" lang="en-US" altLang="ja-JP" sz="1000" dirty="0"/>
              <a:t>}</a:t>
            </a:r>
          </a:p>
          <a:p>
            <a:endParaRPr kumimoji="1" lang="en-US" altLang="ja-JP" sz="1000" dirty="0"/>
          </a:p>
          <a:p>
            <a:r>
              <a:rPr kumimoji="1" lang="en-US" altLang="ja-JP" sz="1000" dirty="0"/>
              <a:t>function </a:t>
            </a:r>
            <a:r>
              <a:rPr kumimoji="1" lang="en-US" altLang="ja-JP" sz="1000" dirty="0" err="1"/>
              <a:t>calculater</a:t>
            </a:r>
            <a:r>
              <a:rPr kumimoji="1" lang="en-US" altLang="ja-JP" sz="1000" dirty="0"/>
              <a:t>(arg1, arg2) {</a:t>
            </a:r>
          </a:p>
          <a:p>
            <a:r>
              <a:rPr kumimoji="1" lang="en-US" altLang="ja-JP" sz="1000" dirty="0"/>
              <a:t>    return arg1 + arg2;</a:t>
            </a:r>
          </a:p>
          <a:p>
            <a:r>
              <a:rPr kumimoji="1" lang="en-US" altLang="ja-JP" sz="1000" dirty="0"/>
              <a:t>}</a:t>
            </a:r>
          </a:p>
          <a:p>
            <a:r>
              <a:rPr kumimoji="1" lang="en-US" altLang="ja-JP" sz="1000" dirty="0"/>
              <a:t>&lt;/script&gt;</a:t>
            </a:r>
          </a:p>
          <a:p>
            <a:r>
              <a:rPr kumimoji="1" lang="en-US" altLang="ja-JP" sz="1000" dirty="0"/>
              <a:t>&lt;/head&gt;</a:t>
            </a:r>
          </a:p>
          <a:p>
            <a:r>
              <a:rPr kumimoji="1" lang="en-US" altLang="ja-JP" sz="1000" dirty="0"/>
              <a:t>&lt;body&gt;</a:t>
            </a:r>
          </a:p>
          <a:p>
            <a:endParaRPr kumimoji="1" lang="en-US" altLang="ja-JP" sz="1000" dirty="0"/>
          </a:p>
          <a:p>
            <a:r>
              <a:rPr kumimoji="1" lang="en-US" altLang="ja-JP" sz="1000" dirty="0"/>
              <a:t>&lt;h1&gt;</a:t>
            </a:r>
            <a:r>
              <a:rPr kumimoji="1" lang="ja-JP" altLang="en-US" sz="1000" dirty="0"/>
              <a:t>足し算</a:t>
            </a:r>
            <a:r>
              <a:rPr kumimoji="1" lang="en-US" altLang="ja-JP" sz="1000" dirty="0"/>
              <a:t>&lt;/h1&gt;</a:t>
            </a:r>
          </a:p>
          <a:p>
            <a:endParaRPr kumimoji="1" lang="en-US" altLang="ja-JP" sz="1000" dirty="0"/>
          </a:p>
          <a:p>
            <a:r>
              <a:rPr kumimoji="1" lang="en-US" altLang="ja-JP" sz="1000" dirty="0"/>
              <a:t>&lt;input type="text" id="textbox1" placeholder="</a:t>
            </a:r>
            <a:r>
              <a:rPr kumimoji="1" lang="ja-JP" altLang="en-US" sz="1000" dirty="0"/>
              <a:t>テキストボックス</a:t>
            </a:r>
            <a:r>
              <a:rPr kumimoji="1" lang="en-US" altLang="ja-JP" sz="1000" dirty="0"/>
              <a:t>1"&gt;</a:t>
            </a:r>
          </a:p>
          <a:p>
            <a:r>
              <a:rPr kumimoji="1" lang="en-US" altLang="ja-JP" sz="1000" dirty="0"/>
              <a:t>&lt;input type="text" id="textbox2" placeholder="</a:t>
            </a:r>
            <a:r>
              <a:rPr kumimoji="1" lang="ja-JP" altLang="en-US" sz="1000" dirty="0"/>
              <a:t>テキストボックス</a:t>
            </a:r>
            <a:r>
              <a:rPr kumimoji="1" lang="en-US" altLang="ja-JP" sz="1000" dirty="0"/>
              <a:t>2"&gt;</a:t>
            </a:r>
          </a:p>
          <a:p>
            <a:r>
              <a:rPr kumimoji="1" lang="en-US" altLang="ja-JP" sz="1000" dirty="0"/>
              <a:t>&lt;button onclick="</a:t>
            </a:r>
            <a:r>
              <a:rPr kumimoji="1" lang="en-US" altLang="ja-JP" sz="1000" dirty="0" err="1"/>
              <a:t>showAlert</a:t>
            </a:r>
            <a:r>
              <a:rPr kumimoji="1" lang="en-US" altLang="ja-JP" sz="1000" dirty="0"/>
              <a:t>()"&gt;</a:t>
            </a:r>
            <a:r>
              <a:rPr kumimoji="1" lang="ja-JP" altLang="en-US" sz="1000" dirty="0"/>
              <a:t>計算</a:t>
            </a:r>
            <a:r>
              <a:rPr kumimoji="1" lang="en-US" altLang="ja-JP" sz="1000" dirty="0"/>
              <a:t>&lt;/button&gt;</a:t>
            </a:r>
          </a:p>
          <a:p>
            <a:r>
              <a:rPr kumimoji="1" lang="en-US" altLang="ja-JP" sz="1000" dirty="0"/>
              <a:t>&lt;div id="result"&gt;&lt;/div&gt;</a:t>
            </a:r>
          </a:p>
          <a:p>
            <a:r>
              <a:rPr kumimoji="1" lang="en-US" altLang="ja-JP" sz="1000" dirty="0"/>
              <a:t>&lt;/body&gt;</a:t>
            </a:r>
          </a:p>
          <a:p>
            <a:r>
              <a:rPr kumimoji="1" lang="en-US" altLang="ja-JP" sz="1000" dirty="0"/>
              <a:t>&lt;/html&gt;</a:t>
            </a:r>
            <a:endParaRPr kumimoji="1" lang="ja-JP" altLang="en-US" sz="1000" dirty="0"/>
          </a:p>
        </p:txBody>
      </p:sp>
      <p:pic>
        <p:nvPicPr>
          <p:cNvPr id="4" name="図 3">
            <a:extLst>
              <a:ext uri="{FF2B5EF4-FFF2-40B4-BE49-F238E27FC236}">
                <a16:creationId xmlns:a16="http://schemas.microsoft.com/office/drawing/2014/main" id="{A32FE4B9-E17D-FE8B-C727-A3019DFEBC29}"/>
              </a:ext>
            </a:extLst>
          </p:cNvPr>
          <p:cNvPicPr>
            <a:picLocks noChangeAspect="1"/>
          </p:cNvPicPr>
          <p:nvPr/>
        </p:nvPicPr>
        <p:blipFill>
          <a:blip r:embed="rId2"/>
          <a:stretch>
            <a:fillRect/>
          </a:stretch>
        </p:blipFill>
        <p:spPr>
          <a:xfrm>
            <a:off x="3704530" y="1417638"/>
            <a:ext cx="4982270" cy="4810796"/>
          </a:xfrm>
          <a:prstGeom prst="rect">
            <a:avLst/>
          </a:prstGeom>
        </p:spPr>
      </p:pic>
    </p:spTree>
    <p:extLst>
      <p:ext uri="{BB962C8B-B14F-4D97-AF65-F5344CB8AC3E}">
        <p14:creationId xmlns:p14="http://schemas.microsoft.com/office/powerpoint/2010/main" val="2595322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5. Html Object </a:t>
            </a:r>
            <a:r>
              <a:rPr kumimoji="1" lang="ja-JP" altLang="en-US" dirty="0"/>
              <a:t>の </a:t>
            </a:r>
            <a:r>
              <a:rPr kumimoji="1" lang="en-US" altLang="ja-JP" dirty="0"/>
              <a:t>DOM </a:t>
            </a:r>
            <a:r>
              <a:rPr kumimoji="1" lang="ja-JP" altLang="en-US" dirty="0"/>
              <a:t>操作</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436132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 コードの変更</a:t>
            </a:r>
          </a:p>
        </p:txBody>
      </p:sp>
      <p:sp>
        <p:nvSpPr>
          <p:cNvPr id="6" name="正方形/長方形 5">
            <a:extLst>
              <a:ext uri="{FF2B5EF4-FFF2-40B4-BE49-F238E27FC236}">
                <a16:creationId xmlns:a16="http://schemas.microsoft.com/office/drawing/2014/main" id="{3DEB1DAE-B5F3-C8CB-D69E-A19E9FD20B48}"/>
              </a:ext>
            </a:extLst>
          </p:cNvPr>
          <p:cNvSpPr/>
          <p:nvPr/>
        </p:nvSpPr>
        <p:spPr>
          <a:xfrm>
            <a:off x="3777240" y="1451003"/>
            <a:ext cx="4805826" cy="477743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kumimoji="1" lang="en-US" altLang="ja-JP" sz="1000" dirty="0"/>
              <a:t>&lt;!DOCTYPE html&gt;</a:t>
            </a:r>
          </a:p>
          <a:p>
            <a:r>
              <a:rPr kumimoji="1" lang="en-US" altLang="ja-JP" sz="1000" dirty="0"/>
              <a:t>&lt;html lang="ja"&gt;</a:t>
            </a:r>
          </a:p>
          <a:p>
            <a:r>
              <a:rPr kumimoji="1" lang="en-US" altLang="ja-JP" sz="1000" dirty="0"/>
              <a:t>&lt;head&gt;</a:t>
            </a:r>
          </a:p>
          <a:p>
            <a:r>
              <a:rPr kumimoji="1" lang="en-US" altLang="ja-JP" sz="1000" dirty="0"/>
              <a:t>&lt;meta charset="UTF-8"&gt;</a:t>
            </a:r>
          </a:p>
          <a:p>
            <a:r>
              <a:rPr kumimoji="1" lang="en-US" altLang="ja-JP" sz="1000" dirty="0"/>
              <a:t>&lt;title&gt;</a:t>
            </a:r>
            <a:r>
              <a:rPr kumimoji="1" lang="ja-JP" altLang="en-US" sz="1000" dirty="0"/>
              <a:t>テキストボックスとボタン</a:t>
            </a:r>
            <a:r>
              <a:rPr kumimoji="1" lang="en-US" altLang="ja-JP" sz="1000" dirty="0"/>
              <a:t>&lt;/title&gt;</a:t>
            </a:r>
          </a:p>
          <a:p>
            <a:r>
              <a:rPr kumimoji="1" lang="en-US" altLang="ja-JP" sz="1000" dirty="0"/>
              <a:t>&lt;script&gt;</a:t>
            </a:r>
          </a:p>
          <a:p>
            <a:r>
              <a:rPr kumimoji="1" lang="en-US" altLang="ja-JP" sz="1000" dirty="0"/>
              <a:t>function </a:t>
            </a:r>
            <a:r>
              <a:rPr kumimoji="1" lang="en-US" altLang="ja-JP" sz="1000" dirty="0" err="1"/>
              <a:t>showAlert</a:t>
            </a:r>
            <a:r>
              <a:rPr kumimoji="1" lang="en-US" altLang="ja-JP" sz="1000" dirty="0"/>
              <a:t>() {</a:t>
            </a:r>
          </a:p>
          <a:p>
            <a:r>
              <a:rPr kumimoji="1" lang="en-US" altLang="ja-JP" sz="1000" dirty="0"/>
              <a:t>    var text1 = </a:t>
            </a:r>
            <a:r>
              <a:rPr kumimoji="1" lang="en-US" altLang="ja-JP" sz="1000" dirty="0" err="1"/>
              <a:t>parseFloat</a:t>
            </a:r>
            <a:r>
              <a:rPr kumimoji="1" lang="en-US" altLang="ja-JP" sz="1000" dirty="0"/>
              <a:t>(</a:t>
            </a:r>
            <a:r>
              <a:rPr kumimoji="1" lang="en-US" altLang="ja-JP" sz="1000" dirty="0" err="1"/>
              <a:t>document.getElementById</a:t>
            </a:r>
            <a:r>
              <a:rPr kumimoji="1" lang="en-US" altLang="ja-JP" sz="1000" dirty="0"/>
              <a:t>('textbox1').value);</a:t>
            </a:r>
          </a:p>
          <a:p>
            <a:r>
              <a:rPr kumimoji="1" lang="en-US" altLang="ja-JP" sz="1000" dirty="0"/>
              <a:t>    var text2 = </a:t>
            </a:r>
            <a:r>
              <a:rPr kumimoji="1" lang="en-US" altLang="ja-JP" sz="1000" dirty="0" err="1"/>
              <a:t>parseFloat</a:t>
            </a:r>
            <a:r>
              <a:rPr kumimoji="1" lang="en-US" altLang="ja-JP" sz="1000" dirty="0"/>
              <a:t>(</a:t>
            </a:r>
            <a:r>
              <a:rPr kumimoji="1" lang="en-US" altLang="ja-JP" sz="1000" dirty="0" err="1"/>
              <a:t>document.getElementById</a:t>
            </a:r>
            <a:r>
              <a:rPr kumimoji="1" lang="en-US" altLang="ja-JP" sz="1000" dirty="0"/>
              <a:t>('textbox2').value);</a:t>
            </a:r>
          </a:p>
          <a:p>
            <a:r>
              <a:rPr kumimoji="1" lang="en-US" altLang="ja-JP" sz="1000" dirty="0"/>
              <a:t>    var result = </a:t>
            </a:r>
            <a:r>
              <a:rPr kumimoji="1" lang="en-US" altLang="ja-JP" sz="1000" dirty="0" err="1"/>
              <a:t>calculater</a:t>
            </a:r>
            <a:r>
              <a:rPr kumimoji="1" lang="en-US" altLang="ja-JP" sz="1000" dirty="0"/>
              <a:t> (text1, text2);</a:t>
            </a:r>
          </a:p>
          <a:p>
            <a:r>
              <a:rPr kumimoji="1" lang="en-US" altLang="ja-JP" sz="1000" dirty="0"/>
              <a:t>    </a:t>
            </a:r>
            <a:r>
              <a:rPr kumimoji="1" lang="en-US" altLang="ja-JP" sz="1000" dirty="0" err="1"/>
              <a:t>document.getElementById</a:t>
            </a:r>
            <a:r>
              <a:rPr kumimoji="1" lang="en-US" altLang="ja-JP" sz="1000" dirty="0"/>
              <a:t>('result').</a:t>
            </a:r>
            <a:r>
              <a:rPr kumimoji="1" lang="en-US" altLang="ja-JP" sz="1000" dirty="0" err="1"/>
              <a:t>innerHTML</a:t>
            </a:r>
            <a:r>
              <a:rPr kumimoji="1" lang="en-US" altLang="ja-JP" sz="1000" dirty="0"/>
              <a:t> = '</a:t>
            </a:r>
            <a:r>
              <a:rPr kumimoji="1" lang="ja-JP" altLang="en-US" sz="1000" dirty="0"/>
              <a:t>計算結果</a:t>
            </a:r>
            <a:r>
              <a:rPr kumimoji="1" lang="en-US" altLang="ja-JP" sz="1000" dirty="0"/>
              <a:t>: ' + result;</a:t>
            </a:r>
          </a:p>
          <a:p>
            <a:r>
              <a:rPr kumimoji="1" lang="en-US" altLang="ja-JP" sz="1000" dirty="0"/>
              <a:t>}</a:t>
            </a:r>
          </a:p>
          <a:p>
            <a:endParaRPr kumimoji="1" lang="en-US" altLang="ja-JP" sz="1000" dirty="0"/>
          </a:p>
          <a:p>
            <a:r>
              <a:rPr kumimoji="1" lang="en-US" altLang="ja-JP" sz="1000" dirty="0"/>
              <a:t>function </a:t>
            </a:r>
            <a:r>
              <a:rPr kumimoji="1" lang="en-US" altLang="ja-JP" sz="1000" dirty="0" err="1"/>
              <a:t>calculater</a:t>
            </a:r>
            <a:r>
              <a:rPr kumimoji="1" lang="en-US" altLang="ja-JP" sz="1000" dirty="0"/>
              <a:t>(arg1, arg2) {</a:t>
            </a:r>
          </a:p>
          <a:p>
            <a:r>
              <a:rPr kumimoji="1" lang="en-US" altLang="ja-JP" sz="1000" dirty="0"/>
              <a:t>    return arg1 + arg2;</a:t>
            </a:r>
          </a:p>
          <a:p>
            <a:r>
              <a:rPr kumimoji="1" lang="en-US" altLang="ja-JP" sz="1000" dirty="0"/>
              <a:t>}</a:t>
            </a:r>
          </a:p>
          <a:p>
            <a:r>
              <a:rPr kumimoji="1" lang="en-US" altLang="ja-JP" sz="1000" dirty="0"/>
              <a:t>&lt;/script&gt;</a:t>
            </a:r>
          </a:p>
          <a:p>
            <a:r>
              <a:rPr kumimoji="1" lang="en-US" altLang="ja-JP" sz="1000" dirty="0"/>
              <a:t>&lt;/head&gt;</a:t>
            </a:r>
          </a:p>
          <a:p>
            <a:r>
              <a:rPr kumimoji="1" lang="en-US" altLang="ja-JP" sz="1000" dirty="0"/>
              <a:t>&lt;body&gt;</a:t>
            </a:r>
          </a:p>
          <a:p>
            <a:endParaRPr kumimoji="1" lang="en-US" altLang="ja-JP" sz="1000" dirty="0"/>
          </a:p>
          <a:p>
            <a:r>
              <a:rPr kumimoji="1" lang="en-US" altLang="ja-JP" sz="1000" dirty="0"/>
              <a:t>&lt;h1&gt;</a:t>
            </a:r>
            <a:r>
              <a:rPr kumimoji="1" lang="ja-JP" altLang="en-US" sz="1000" dirty="0"/>
              <a:t>足し算</a:t>
            </a:r>
            <a:r>
              <a:rPr kumimoji="1" lang="en-US" altLang="ja-JP" sz="1000" dirty="0"/>
              <a:t>&lt;/h1&gt;</a:t>
            </a:r>
          </a:p>
          <a:p>
            <a:endParaRPr kumimoji="1" lang="en-US" altLang="ja-JP" sz="1000" dirty="0"/>
          </a:p>
          <a:p>
            <a:r>
              <a:rPr kumimoji="1" lang="en-US" altLang="ja-JP" sz="1000" dirty="0"/>
              <a:t>&lt;input type="text" id="textbox1" placeholder="</a:t>
            </a:r>
            <a:r>
              <a:rPr kumimoji="1" lang="ja-JP" altLang="en-US" sz="1000" dirty="0"/>
              <a:t>テキストボックス</a:t>
            </a:r>
            <a:r>
              <a:rPr kumimoji="1" lang="en-US" altLang="ja-JP" sz="1000" dirty="0"/>
              <a:t>1"&gt;</a:t>
            </a:r>
          </a:p>
          <a:p>
            <a:r>
              <a:rPr kumimoji="1" lang="en-US" altLang="ja-JP" sz="1000" dirty="0"/>
              <a:t>&lt;input type="text" id="textbox2" placeholder="</a:t>
            </a:r>
            <a:r>
              <a:rPr kumimoji="1" lang="ja-JP" altLang="en-US" sz="1000" dirty="0"/>
              <a:t>テキストボックス</a:t>
            </a:r>
            <a:r>
              <a:rPr kumimoji="1" lang="en-US" altLang="ja-JP" sz="1000" dirty="0"/>
              <a:t>2"&gt;</a:t>
            </a:r>
          </a:p>
          <a:p>
            <a:r>
              <a:rPr kumimoji="1" lang="en-US" altLang="ja-JP" sz="1000" dirty="0"/>
              <a:t>&lt;button onclick="</a:t>
            </a:r>
            <a:r>
              <a:rPr kumimoji="1" lang="en-US" altLang="ja-JP" sz="1000" dirty="0" err="1"/>
              <a:t>showAlert</a:t>
            </a:r>
            <a:r>
              <a:rPr kumimoji="1" lang="en-US" altLang="ja-JP" sz="1000" dirty="0"/>
              <a:t>()"&gt;</a:t>
            </a:r>
            <a:r>
              <a:rPr kumimoji="1" lang="ja-JP" altLang="en-US" sz="1000" dirty="0"/>
              <a:t>計算</a:t>
            </a:r>
            <a:r>
              <a:rPr kumimoji="1" lang="en-US" altLang="ja-JP" sz="1000" dirty="0"/>
              <a:t>&lt;/button&gt;</a:t>
            </a:r>
          </a:p>
          <a:p>
            <a:r>
              <a:rPr kumimoji="1" lang="en-US" altLang="ja-JP" sz="1000" dirty="0"/>
              <a:t>&lt;div id="result"&gt;&lt;/div&gt;</a:t>
            </a:r>
          </a:p>
          <a:p>
            <a:r>
              <a:rPr kumimoji="1" lang="en-US" altLang="ja-JP" sz="1000" dirty="0"/>
              <a:t>&lt;/body&gt;</a:t>
            </a:r>
          </a:p>
          <a:p>
            <a:r>
              <a:rPr kumimoji="1" lang="en-US" altLang="ja-JP" sz="1000" dirty="0"/>
              <a:t>&lt;/html&gt;</a:t>
            </a:r>
            <a:endParaRPr kumimoji="1" lang="ja-JP" altLang="en-US" sz="1000" dirty="0"/>
          </a:p>
        </p:txBody>
      </p:sp>
      <p:pic>
        <p:nvPicPr>
          <p:cNvPr id="4" name="図 3">
            <a:extLst>
              <a:ext uri="{FF2B5EF4-FFF2-40B4-BE49-F238E27FC236}">
                <a16:creationId xmlns:a16="http://schemas.microsoft.com/office/drawing/2014/main" id="{A32FE4B9-E17D-FE8B-C727-A3019DFEBC29}"/>
              </a:ext>
            </a:extLst>
          </p:cNvPr>
          <p:cNvPicPr>
            <a:picLocks noChangeAspect="1"/>
          </p:cNvPicPr>
          <p:nvPr/>
        </p:nvPicPr>
        <p:blipFill>
          <a:blip r:embed="rId2"/>
          <a:stretch>
            <a:fillRect/>
          </a:stretch>
        </p:blipFill>
        <p:spPr>
          <a:xfrm>
            <a:off x="3704530" y="1417638"/>
            <a:ext cx="4982270" cy="4810796"/>
          </a:xfrm>
          <a:prstGeom prst="rect">
            <a:avLst/>
          </a:prstGeom>
        </p:spPr>
      </p:pic>
    </p:spTree>
    <p:extLst>
      <p:ext uri="{BB962C8B-B14F-4D97-AF65-F5344CB8AC3E}">
        <p14:creationId xmlns:p14="http://schemas.microsoft.com/office/powerpoint/2010/main" val="15735110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5. Html Object </a:t>
            </a:r>
            <a:r>
              <a:rPr kumimoji="1" lang="ja-JP" altLang="en-US" dirty="0"/>
              <a:t>の </a:t>
            </a:r>
            <a:r>
              <a:rPr kumimoji="1" lang="en-US" altLang="ja-JP" dirty="0"/>
              <a:t>DOM </a:t>
            </a:r>
            <a:r>
              <a:rPr kumimoji="1" lang="ja-JP" altLang="en-US" dirty="0"/>
              <a:t>操作</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436132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 実行結果</a:t>
            </a:r>
          </a:p>
        </p:txBody>
      </p:sp>
      <p:pic>
        <p:nvPicPr>
          <p:cNvPr id="7" name="図 6">
            <a:extLst>
              <a:ext uri="{FF2B5EF4-FFF2-40B4-BE49-F238E27FC236}">
                <a16:creationId xmlns:a16="http://schemas.microsoft.com/office/drawing/2014/main" id="{243ECB35-C15B-A69B-0A76-BFEF2129EBC5}"/>
              </a:ext>
            </a:extLst>
          </p:cNvPr>
          <p:cNvPicPr>
            <a:picLocks noChangeAspect="1"/>
          </p:cNvPicPr>
          <p:nvPr/>
        </p:nvPicPr>
        <p:blipFill>
          <a:blip r:embed="rId2"/>
          <a:stretch>
            <a:fillRect/>
          </a:stretch>
        </p:blipFill>
        <p:spPr>
          <a:xfrm>
            <a:off x="2751908" y="1964809"/>
            <a:ext cx="6170792" cy="4428011"/>
          </a:xfrm>
          <a:prstGeom prst="rect">
            <a:avLst/>
          </a:prstGeom>
        </p:spPr>
      </p:pic>
    </p:spTree>
    <p:extLst>
      <p:ext uri="{BB962C8B-B14F-4D97-AF65-F5344CB8AC3E}">
        <p14:creationId xmlns:p14="http://schemas.microsoft.com/office/powerpoint/2010/main" val="3548052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6. </a:t>
            </a:r>
            <a:r>
              <a:rPr kumimoji="1" lang="ja-JP" altLang="en-US" dirty="0"/>
              <a:t>例外処理</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2"/>
            <a:ext cx="7973466" cy="50181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 例外処理とは</a:t>
            </a:r>
            <a:endParaRPr lang="en-US" altLang="ja-JP" dirty="0"/>
          </a:p>
          <a:p>
            <a:pPr marL="0" indent="0">
              <a:buNone/>
            </a:pPr>
            <a:r>
              <a:rPr lang="ja-JP" altLang="en-US" sz="2400" dirty="0"/>
              <a:t>　これまで作ってきたプログラムには</a:t>
            </a:r>
            <a:endParaRPr lang="en-US" altLang="ja-JP" sz="2400" dirty="0"/>
          </a:p>
          <a:p>
            <a:pPr marL="0" indent="0">
              <a:buNone/>
            </a:pPr>
            <a:r>
              <a:rPr lang="ja-JP" altLang="en-US" sz="2400" dirty="0"/>
              <a:t>　「数字以外が入力された場合に期待の動きをしない」</a:t>
            </a:r>
            <a:endParaRPr lang="en-US" altLang="ja-JP" sz="2400" dirty="0"/>
          </a:p>
          <a:p>
            <a:pPr marL="0" indent="0">
              <a:buNone/>
            </a:pPr>
            <a:r>
              <a:rPr lang="ja-JP" altLang="en-US" sz="2400" dirty="0"/>
              <a:t>　という欠陥がある。</a:t>
            </a:r>
            <a:endParaRPr lang="en-US" altLang="ja-JP" sz="2400" dirty="0"/>
          </a:p>
          <a:p>
            <a:pPr marL="0" indent="0">
              <a:buNone/>
            </a:pPr>
            <a:r>
              <a:rPr lang="ja-JP" altLang="en-US" sz="2400" dirty="0"/>
              <a:t>　　→ </a:t>
            </a:r>
            <a:r>
              <a:rPr lang="en-US" altLang="ja-JP" sz="2400" dirty="0"/>
              <a:t>	JavaScript </a:t>
            </a:r>
            <a:r>
              <a:rPr lang="ja-JP" altLang="en-US" sz="2400" dirty="0"/>
              <a:t>では処理が途中で止まるのみだが、</a:t>
            </a:r>
            <a:endParaRPr lang="en-US" altLang="ja-JP" sz="2400" dirty="0"/>
          </a:p>
          <a:p>
            <a:pPr marL="0" indent="0">
              <a:buNone/>
            </a:pPr>
            <a:r>
              <a:rPr lang="en-US" altLang="ja-JP" sz="2400" dirty="0"/>
              <a:t>		</a:t>
            </a:r>
            <a:r>
              <a:rPr lang="ja-JP" altLang="en-US" sz="2400" dirty="0"/>
              <a:t>アプリケーションの強制終了などに繋がる</a:t>
            </a:r>
            <a:endParaRPr lang="en-US" altLang="ja-JP" sz="2400" dirty="0"/>
          </a:p>
          <a:p>
            <a:pPr marL="0" indent="0">
              <a:buNone/>
            </a:pPr>
            <a:endParaRPr lang="en-US" altLang="ja-JP" sz="2400" dirty="0"/>
          </a:p>
          <a:p>
            <a:pPr marL="0" indent="0">
              <a:buNone/>
            </a:pPr>
            <a:r>
              <a:rPr lang="ja-JP" altLang="en-US" sz="2400" dirty="0"/>
              <a:t>　このような場合に、アプリケーションやデータが正常に</a:t>
            </a:r>
            <a:endParaRPr lang="en-US" altLang="ja-JP" sz="2400" dirty="0"/>
          </a:p>
          <a:p>
            <a:pPr marL="0" indent="0">
              <a:buNone/>
            </a:pPr>
            <a:r>
              <a:rPr lang="ja-JP" altLang="en-US" sz="2400" dirty="0"/>
              <a:t>　動作をするための、期待する機能とは別の補完的な処理を</a:t>
            </a:r>
            <a:endParaRPr lang="en-US" altLang="ja-JP" sz="2400" dirty="0"/>
          </a:p>
          <a:p>
            <a:pPr marL="0" indent="0">
              <a:buNone/>
            </a:pPr>
            <a:r>
              <a:rPr lang="ja-JP" altLang="en-US" sz="2400" dirty="0"/>
              <a:t>　行うものを </a:t>
            </a:r>
            <a:r>
              <a:rPr lang="en-US" altLang="ja-JP" sz="2400" dirty="0"/>
              <a:t>“</a:t>
            </a:r>
            <a:r>
              <a:rPr lang="ja-JP" altLang="en-US" sz="2400" dirty="0"/>
              <a:t>例外処理</a:t>
            </a:r>
            <a:r>
              <a:rPr lang="en-US" altLang="ja-JP" sz="2400" dirty="0"/>
              <a:t>” </a:t>
            </a:r>
            <a:r>
              <a:rPr lang="ja-JP" altLang="en-US" sz="2400" dirty="0"/>
              <a:t>という。</a:t>
            </a:r>
            <a:endParaRPr lang="en-US" altLang="ja-JP" sz="2400" dirty="0"/>
          </a:p>
          <a:p>
            <a:pPr marL="0" indent="0">
              <a:buNone/>
            </a:pPr>
            <a:endParaRPr lang="ja-JP" altLang="en-US" sz="2400" dirty="0"/>
          </a:p>
        </p:txBody>
      </p:sp>
    </p:spTree>
    <p:extLst>
      <p:ext uri="{BB962C8B-B14F-4D97-AF65-F5344CB8AC3E}">
        <p14:creationId xmlns:p14="http://schemas.microsoft.com/office/powerpoint/2010/main" val="32898508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6. </a:t>
            </a:r>
            <a:r>
              <a:rPr kumimoji="1" lang="ja-JP" altLang="en-US" dirty="0"/>
              <a:t>例外処理</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2"/>
            <a:ext cx="7973466" cy="50181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 例外処理とは</a:t>
            </a:r>
            <a:endParaRPr lang="en-US" altLang="ja-JP" dirty="0"/>
          </a:p>
          <a:p>
            <a:pPr marL="0" indent="0">
              <a:buNone/>
            </a:pPr>
            <a:r>
              <a:rPr lang="ja-JP" altLang="en-US" sz="2400" dirty="0"/>
              <a:t>　これまで作ってきたプログラムには</a:t>
            </a:r>
            <a:endParaRPr lang="en-US" altLang="ja-JP" sz="2400" dirty="0"/>
          </a:p>
          <a:p>
            <a:pPr marL="0" indent="0">
              <a:buNone/>
            </a:pPr>
            <a:r>
              <a:rPr lang="ja-JP" altLang="en-US" sz="2400" dirty="0"/>
              <a:t>　「数字以外が入力された場合に期待の動きをしない」</a:t>
            </a:r>
            <a:endParaRPr lang="en-US" altLang="ja-JP" sz="2400" dirty="0"/>
          </a:p>
          <a:p>
            <a:pPr marL="0" indent="0">
              <a:buNone/>
            </a:pPr>
            <a:r>
              <a:rPr lang="ja-JP" altLang="en-US" sz="2400" dirty="0"/>
              <a:t>　という欠陥がある。</a:t>
            </a:r>
            <a:endParaRPr lang="en-US" altLang="ja-JP" sz="2400" dirty="0"/>
          </a:p>
          <a:p>
            <a:pPr marL="0" indent="0">
              <a:buNone/>
            </a:pPr>
            <a:r>
              <a:rPr lang="ja-JP" altLang="en-US" sz="2400" dirty="0"/>
              <a:t>　　→ </a:t>
            </a:r>
            <a:r>
              <a:rPr lang="en-US" altLang="ja-JP" sz="2400" dirty="0"/>
              <a:t>	JavaScript </a:t>
            </a:r>
            <a:r>
              <a:rPr lang="ja-JP" altLang="en-US" sz="2400" dirty="0"/>
              <a:t>では処理が途中で止まるのみだが、</a:t>
            </a:r>
            <a:endParaRPr lang="en-US" altLang="ja-JP" sz="2400" dirty="0"/>
          </a:p>
          <a:p>
            <a:pPr marL="0" indent="0">
              <a:buNone/>
            </a:pPr>
            <a:r>
              <a:rPr lang="en-US" altLang="ja-JP" sz="2400" dirty="0"/>
              <a:t>		</a:t>
            </a:r>
            <a:r>
              <a:rPr lang="ja-JP" altLang="en-US" sz="2400" dirty="0"/>
              <a:t>アプリケーションの強制終了などに繋がる</a:t>
            </a:r>
            <a:endParaRPr lang="en-US" altLang="ja-JP" sz="2400" dirty="0"/>
          </a:p>
          <a:p>
            <a:pPr marL="0" indent="0">
              <a:buNone/>
            </a:pPr>
            <a:endParaRPr lang="en-US" altLang="ja-JP" sz="2400" dirty="0"/>
          </a:p>
          <a:p>
            <a:pPr marL="0" indent="0">
              <a:buNone/>
            </a:pPr>
            <a:r>
              <a:rPr lang="ja-JP" altLang="en-US" sz="2400" dirty="0"/>
              <a:t>　このような場合に、アプリケーションやデータが正常に</a:t>
            </a:r>
            <a:endParaRPr lang="en-US" altLang="ja-JP" sz="2400" dirty="0"/>
          </a:p>
          <a:p>
            <a:pPr marL="0" indent="0">
              <a:buNone/>
            </a:pPr>
            <a:r>
              <a:rPr lang="ja-JP" altLang="en-US" sz="2400" dirty="0"/>
              <a:t>　動作をするための、期待する機能とは別の補完的な処理を</a:t>
            </a:r>
            <a:endParaRPr lang="en-US" altLang="ja-JP" sz="2400" dirty="0"/>
          </a:p>
          <a:p>
            <a:pPr marL="0" indent="0">
              <a:buNone/>
            </a:pPr>
            <a:r>
              <a:rPr lang="ja-JP" altLang="en-US" sz="2400" dirty="0"/>
              <a:t>　行うものを </a:t>
            </a:r>
            <a:r>
              <a:rPr lang="en-US" altLang="ja-JP" sz="2400" dirty="0"/>
              <a:t>“</a:t>
            </a:r>
            <a:r>
              <a:rPr lang="ja-JP" altLang="en-US" sz="2400" dirty="0"/>
              <a:t>例外処理</a:t>
            </a:r>
            <a:r>
              <a:rPr lang="en-US" altLang="ja-JP" sz="2400" dirty="0"/>
              <a:t>” </a:t>
            </a:r>
            <a:r>
              <a:rPr lang="ja-JP" altLang="en-US" sz="2400" dirty="0"/>
              <a:t>という。</a:t>
            </a:r>
            <a:endParaRPr lang="en-US" altLang="ja-JP" sz="2400" dirty="0"/>
          </a:p>
          <a:p>
            <a:pPr marL="0" indent="0">
              <a:buNone/>
            </a:pPr>
            <a:endParaRPr lang="ja-JP" altLang="en-US" sz="2400" dirty="0"/>
          </a:p>
        </p:txBody>
      </p:sp>
    </p:spTree>
    <p:extLst>
      <p:ext uri="{BB962C8B-B14F-4D97-AF65-F5344CB8AC3E}">
        <p14:creationId xmlns:p14="http://schemas.microsoft.com/office/powerpoint/2010/main" val="1751683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6. </a:t>
            </a:r>
            <a:r>
              <a:rPr kumimoji="1" lang="ja-JP" altLang="en-US" dirty="0"/>
              <a:t>例外処理</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2"/>
            <a:ext cx="7973466" cy="50181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 現状の動作</a:t>
            </a:r>
            <a:endParaRPr lang="en-US" altLang="ja-JP" dirty="0"/>
          </a:p>
          <a:p>
            <a:pPr marL="0" indent="0">
              <a:buNone/>
            </a:pPr>
            <a:r>
              <a:rPr lang="en-US" altLang="ja-JP" sz="2400" dirty="0" err="1"/>
              <a:t>NaN</a:t>
            </a:r>
            <a:r>
              <a:rPr lang="en-US" altLang="ja-JP" sz="2400" dirty="0"/>
              <a:t> (Not a number)</a:t>
            </a:r>
            <a:r>
              <a:rPr lang="ja-JP" altLang="en-US" sz="2400" dirty="0"/>
              <a:t>となり、数字として計算されない。</a:t>
            </a:r>
          </a:p>
        </p:txBody>
      </p:sp>
      <p:pic>
        <p:nvPicPr>
          <p:cNvPr id="4" name="図 3">
            <a:extLst>
              <a:ext uri="{FF2B5EF4-FFF2-40B4-BE49-F238E27FC236}">
                <a16:creationId xmlns:a16="http://schemas.microsoft.com/office/drawing/2014/main" id="{3D3A6D0C-DFD0-4C07-E3F9-786FEC7630E2}"/>
              </a:ext>
            </a:extLst>
          </p:cNvPr>
          <p:cNvPicPr>
            <a:picLocks noChangeAspect="1"/>
          </p:cNvPicPr>
          <p:nvPr/>
        </p:nvPicPr>
        <p:blipFill>
          <a:blip r:embed="rId2"/>
          <a:stretch>
            <a:fillRect/>
          </a:stretch>
        </p:blipFill>
        <p:spPr>
          <a:xfrm>
            <a:off x="1223676" y="2469737"/>
            <a:ext cx="5553644" cy="3999428"/>
          </a:xfrm>
          <a:prstGeom prst="rect">
            <a:avLst/>
          </a:prstGeom>
        </p:spPr>
      </p:pic>
    </p:spTree>
    <p:extLst>
      <p:ext uri="{BB962C8B-B14F-4D97-AF65-F5344CB8AC3E}">
        <p14:creationId xmlns:p14="http://schemas.microsoft.com/office/powerpoint/2010/main" val="794727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6. </a:t>
            </a:r>
            <a:r>
              <a:rPr kumimoji="1" lang="ja-JP" altLang="en-US" dirty="0"/>
              <a:t>例外処理</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2"/>
            <a:ext cx="7973466" cy="50181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 変更内容</a:t>
            </a:r>
            <a:endParaRPr lang="en-US" altLang="ja-JP" dirty="0"/>
          </a:p>
        </p:txBody>
      </p:sp>
      <p:pic>
        <p:nvPicPr>
          <p:cNvPr id="7" name="図 6">
            <a:extLst>
              <a:ext uri="{FF2B5EF4-FFF2-40B4-BE49-F238E27FC236}">
                <a16:creationId xmlns:a16="http://schemas.microsoft.com/office/drawing/2014/main" id="{59989FEA-B1A0-E1CE-B84B-6D6DF3F335A3}"/>
              </a:ext>
            </a:extLst>
          </p:cNvPr>
          <p:cNvPicPr>
            <a:picLocks noChangeAspect="1"/>
          </p:cNvPicPr>
          <p:nvPr/>
        </p:nvPicPr>
        <p:blipFill>
          <a:blip r:embed="rId2"/>
          <a:stretch>
            <a:fillRect/>
          </a:stretch>
        </p:blipFill>
        <p:spPr>
          <a:xfrm>
            <a:off x="939801" y="2580889"/>
            <a:ext cx="6563641" cy="3610479"/>
          </a:xfrm>
          <a:prstGeom prst="rect">
            <a:avLst/>
          </a:prstGeom>
        </p:spPr>
      </p:pic>
      <p:sp>
        <p:nvSpPr>
          <p:cNvPr id="3" name="正方形/長方形 2">
            <a:extLst>
              <a:ext uri="{FF2B5EF4-FFF2-40B4-BE49-F238E27FC236}">
                <a16:creationId xmlns:a16="http://schemas.microsoft.com/office/drawing/2014/main" id="{58458408-8751-2BAE-1672-DF8F338561E5}"/>
              </a:ext>
            </a:extLst>
          </p:cNvPr>
          <p:cNvSpPr/>
          <p:nvPr/>
        </p:nvSpPr>
        <p:spPr>
          <a:xfrm>
            <a:off x="1083892" y="3336981"/>
            <a:ext cx="6325312" cy="196995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667885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kumimoji="1" lang="en-US" altLang="ja-JP" dirty="0"/>
              <a:t>6. </a:t>
            </a:r>
            <a:r>
              <a:rPr kumimoji="1" lang="ja-JP" altLang="en-US" dirty="0"/>
              <a:t>例外処理</a:t>
            </a:r>
            <a:endParaRPr kumimoji="1" lang="en-US" altLang="ja-JP"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2"/>
            <a:ext cx="7973466" cy="50181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dirty="0"/>
              <a:t>・ 変更後の動作</a:t>
            </a:r>
            <a:endParaRPr lang="en-US" altLang="ja-JP" dirty="0"/>
          </a:p>
        </p:txBody>
      </p:sp>
      <p:pic>
        <p:nvPicPr>
          <p:cNvPr id="6" name="図 5">
            <a:extLst>
              <a:ext uri="{FF2B5EF4-FFF2-40B4-BE49-F238E27FC236}">
                <a16:creationId xmlns:a16="http://schemas.microsoft.com/office/drawing/2014/main" id="{9F26DD0C-B16C-0859-431B-FAED23B4F976}"/>
              </a:ext>
            </a:extLst>
          </p:cNvPr>
          <p:cNvPicPr>
            <a:picLocks noChangeAspect="1"/>
          </p:cNvPicPr>
          <p:nvPr/>
        </p:nvPicPr>
        <p:blipFill>
          <a:blip r:embed="rId2"/>
          <a:stretch>
            <a:fillRect/>
          </a:stretch>
        </p:blipFill>
        <p:spPr>
          <a:xfrm>
            <a:off x="1640793" y="2012291"/>
            <a:ext cx="6337001" cy="4456874"/>
          </a:xfrm>
          <a:prstGeom prst="rect">
            <a:avLst/>
          </a:prstGeom>
        </p:spPr>
      </p:pic>
      <p:sp>
        <p:nvSpPr>
          <p:cNvPr id="7" name="正方形/長方形 6">
            <a:extLst>
              <a:ext uri="{FF2B5EF4-FFF2-40B4-BE49-F238E27FC236}">
                <a16:creationId xmlns:a16="http://schemas.microsoft.com/office/drawing/2014/main" id="{1FD713AC-33C0-1AF2-59FB-F602D933BF2C}"/>
              </a:ext>
            </a:extLst>
          </p:cNvPr>
          <p:cNvSpPr/>
          <p:nvPr/>
        </p:nvSpPr>
        <p:spPr>
          <a:xfrm>
            <a:off x="1751888" y="3537960"/>
            <a:ext cx="2615013" cy="15382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749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20EADF-8E23-0644-41EB-687E25397A5A}"/>
              </a:ext>
            </a:extLst>
          </p:cNvPr>
          <p:cNvSpPr>
            <a:spLocks noGrp="1"/>
          </p:cNvSpPr>
          <p:nvPr>
            <p:ph type="title"/>
          </p:nvPr>
        </p:nvSpPr>
        <p:spPr/>
        <p:txBody>
          <a:bodyPr/>
          <a:lstStyle/>
          <a:p>
            <a:pPr algn="l"/>
            <a:r>
              <a:rPr kumimoji="1" lang="en-US" altLang="ja-JP" dirty="0"/>
              <a:t>This course’s summary</a:t>
            </a:r>
            <a:endParaRPr kumimoji="1" lang="ja-JP" altLang="en-US" dirty="0"/>
          </a:p>
        </p:txBody>
      </p:sp>
      <p:sp>
        <p:nvSpPr>
          <p:cNvPr id="3" name="コンテンツ プレースホルダー 2">
            <a:extLst>
              <a:ext uri="{FF2B5EF4-FFF2-40B4-BE49-F238E27FC236}">
                <a16:creationId xmlns:a16="http://schemas.microsoft.com/office/drawing/2014/main" id="{6D191B5A-789A-59F8-8871-11AFDCDE4CA5}"/>
              </a:ext>
            </a:extLst>
          </p:cNvPr>
          <p:cNvSpPr>
            <a:spLocks noGrp="1"/>
          </p:cNvSpPr>
          <p:nvPr>
            <p:ph idx="1"/>
          </p:nvPr>
        </p:nvSpPr>
        <p:spPr/>
        <p:txBody>
          <a:bodyPr/>
          <a:lstStyle/>
          <a:p>
            <a:r>
              <a:rPr kumimoji="1" lang="en-US" altLang="ja-JP" dirty="0"/>
              <a:t>Html </a:t>
            </a:r>
            <a:r>
              <a:rPr kumimoji="1" lang="ja-JP" altLang="en-US" dirty="0"/>
              <a:t>とは </a:t>
            </a:r>
            <a:r>
              <a:rPr kumimoji="1" lang="en-US" altLang="ja-JP" dirty="0"/>
              <a:t>: 5P</a:t>
            </a:r>
          </a:p>
          <a:p>
            <a:r>
              <a:rPr kumimoji="1" lang="en-US" altLang="ja-JP" dirty="0"/>
              <a:t>JavaScript </a:t>
            </a:r>
            <a:r>
              <a:rPr kumimoji="1" lang="ja-JP" altLang="en-US" dirty="0"/>
              <a:t>とは</a:t>
            </a:r>
            <a:r>
              <a:rPr kumimoji="1" lang="en-US" altLang="ja-JP" dirty="0"/>
              <a:t> : 12P</a:t>
            </a:r>
          </a:p>
          <a:p>
            <a:r>
              <a:rPr kumimoji="1" lang="ja-JP" altLang="en-US" dirty="0"/>
              <a:t>変数とは </a:t>
            </a:r>
            <a:r>
              <a:rPr kumimoji="1" lang="en-US" altLang="ja-JP" dirty="0"/>
              <a:t>: P17</a:t>
            </a:r>
          </a:p>
          <a:p>
            <a:r>
              <a:rPr kumimoji="1" lang="ja-JP" altLang="en-US" dirty="0"/>
              <a:t>関数とは </a:t>
            </a:r>
            <a:r>
              <a:rPr kumimoji="1" lang="en-US" altLang="ja-JP" dirty="0"/>
              <a:t>: P20</a:t>
            </a:r>
          </a:p>
          <a:p>
            <a:r>
              <a:rPr kumimoji="1" lang="ja-JP" altLang="en-US" dirty="0"/>
              <a:t>プログラミングとは </a:t>
            </a:r>
            <a:r>
              <a:rPr kumimoji="1" lang="en-US" altLang="ja-JP" dirty="0"/>
              <a:t>: 23 P</a:t>
            </a:r>
          </a:p>
          <a:p>
            <a:endParaRPr kumimoji="1" lang="en-US" altLang="ja-JP" dirty="0"/>
          </a:p>
          <a:p>
            <a:endParaRPr kumimoji="1" lang="en-US" altLang="ja-JP" dirty="0"/>
          </a:p>
        </p:txBody>
      </p:sp>
    </p:spTree>
    <p:extLst>
      <p:ext uri="{BB962C8B-B14F-4D97-AF65-F5344CB8AC3E}">
        <p14:creationId xmlns:p14="http://schemas.microsoft.com/office/powerpoint/2010/main" val="2054027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ja-JP" altLang="en-US" dirty="0"/>
              <a:t>補遺 </a:t>
            </a:r>
            <a:r>
              <a:rPr lang="en-US" altLang="ja-JP" dirty="0"/>
              <a:t>1 : </a:t>
            </a:r>
            <a:r>
              <a:rPr lang="ja-JP" altLang="en-US" dirty="0"/>
              <a:t>前提及び受講前の準備</a:t>
            </a:r>
            <a:endParaRPr dirty="0"/>
          </a:p>
        </p:txBody>
      </p:sp>
      <p:sp>
        <p:nvSpPr>
          <p:cNvPr id="4" name="Content Placeholder 2">
            <a:extLst>
              <a:ext uri="{FF2B5EF4-FFF2-40B4-BE49-F238E27FC236}">
                <a16:creationId xmlns:a16="http://schemas.microsoft.com/office/drawing/2014/main" id="{A7C4AB37-56F6-D902-FDD3-83C2048E46A6}"/>
              </a:ext>
            </a:extLst>
          </p:cNvPr>
          <p:cNvSpPr txBox="1">
            <a:spLocks/>
          </p:cNvSpPr>
          <p:nvPr/>
        </p:nvSpPr>
        <p:spPr>
          <a:xfrm>
            <a:off x="457200" y="5053892"/>
            <a:ext cx="7903029" cy="138312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ja-JP" altLang="en-US" dirty="0">
              <a:latin typeface="+mj-lt"/>
            </a:endParaRPr>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64539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dirty="0"/>
              <a:t>a) Text </a:t>
            </a:r>
            <a:r>
              <a:rPr lang="en-US" altLang="ja-JP" dirty="0" err="1"/>
              <a:t>Editer</a:t>
            </a:r>
            <a:r>
              <a:rPr lang="en-US" altLang="ja-JP" dirty="0"/>
              <a:t> </a:t>
            </a:r>
            <a:r>
              <a:rPr lang="ja-JP" altLang="en-US" dirty="0"/>
              <a:t>の準備</a:t>
            </a:r>
          </a:p>
        </p:txBody>
      </p:sp>
      <p:sp>
        <p:nvSpPr>
          <p:cNvPr id="6" name="Content Placeholder 2">
            <a:extLst>
              <a:ext uri="{FF2B5EF4-FFF2-40B4-BE49-F238E27FC236}">
                <a16:creationId xmlns:a16="http://schemas.microsoft.com/office/drawing/2014/main" id="{EA5437E1-F59C-0F0F-FFB3-6CA27C1AF165}"/>
              </a:ext>
            </a:extLst>
          </p:cNvPr>
          <p:cNvSpPr txBox="1">
            <a:spLocks/>
          </p:cNvSpPr>
          <p:nvPr/>
        </p:nvSpPr>
        <p:spPr>
          <a:xfrm>
            <a:off x="609600" y="4580684"/>
            <a:ext cx="7903029" cy="64539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dirty="0"/>
              <a:t>b)Browser </a:t>
            </a:r>
            <a:r>
              <a:rPr lang="ja-JP" altLang="en-US" dirty="0"/>
              <a:t>について</a:t>
            </a:r>
          </a:p>
        </p:txBody>
      </p:sp>
      <p:sp>
        <p:nvSpPr>
          <p:cNvPr id="9" name="Content Placeholder 2">
            <a:extLst>
              <a:ext uri="{FF2B5EF4-FFF2-40B4-BE49-F238E27FC236}">
                <a16:creationId xmlns:a16="http://schemas.microsoft.com/office/drawing/2014/main" id="{CB25E8C2-14F0-92EF-2587-B2E4A96DC705}"/>
              </a:ext>
            </a:extLst>
          </p:cNvPr>
          <p:cNvSpPr txBox="1">
            <a:spLocks/>
          </p:cNvSpPr>
          <p:nvPr/>
        </p:nvSpPr>
        <p:spPr>
          <a:xfrm>
            <a:off x="609600" y="2096391"/>
            <a:ext cx="7973466" cy="2484293"/>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sz="2400" dirty="0"/>
              <a:t>内容としてはメモ帳でも進められますが、</a:t>
            </a:r>
            <a:endParaRPr lang="en-US" altLang="ja-JP" sz="2400" dirty="0"/>
          </a:p>
          <a:p>
            <a:pPr marL="0" indent="0">
              <a:buNone/>
            </a:pPr>
            <a:r>
              <a:rPr lang="ja-JP" altLang="en-US" sz="2400" dirty="0"/>
              <a:t>何かしらインストールしておくことをお勧めします。</a:t>
            </a:r>
            <a:endParaRPr lang="en-US" altLang="ja-JP" sz="2400" dirty="0"/>
          </a:p>
          <a:p>
            <a:pPr marL="0" indent="0">
              <a:buNone/>
            </a:pPr>
            <a:r>
              <a:rPr lang="ja-JP" altLang="en-US" sz="2400" dirty="0"/>
              <a:t>特に抵抗が無ければ下記をご利用ください。 </a:t>
            </a:r>
            <a:endParaRPr lang="en-US" altLang="ja-JP" sz="2400" dirty="0"/>
          </a:p>
          <a:p>
            <a:pPr marL="0" indent="0">
              <a:buNone/>
            </a:pPr>
            <a:endParaRPr lang="en-US" altLang="ja-JP" sz="2400" dirty="0"/>
          </a:p>
          <a:p>
            <a:pPr marL="0" indent="0">
              <a:buNone/>
            </a:pPr>
            <a:r>
              <a:rPr lang="ja-JP" altLang="en-US" sz="2400" dirty="0"/>
              <a:t>サクラエディタ </a:t>
            </a:r>
            <a:r>
              <a:rPr lang="en-US" altLang="ja-JP" sz="2400" dirty="0"/>
              <a:t>v2.4.2 (</a:t>
            </a:r>
            <a:r>
              <a:rPr lang="en-US" altLang="ja-JP" sz="2400" dirty="0" err="1"/>
              <a:t>github</a:t>
            </a:r>
            <a:r>
              <a:rPr lang="en-US" altLang="ja-JP" sz="2400" dirty="0"/>
              <a:t>) :</a:t>
            </a:r>
          </a:p>
          <a:p>
            <a:pPr marL="0" indent="0">
              <a:buNone/>
            </a:pPr>
            <a:r>
              <a:rPr lang="en-US" altLang="ja-JP" sz="2400" dirty="0"/>
              <a:t>        </a:t>
            </a:r>
            <a:r>
              <a:rPr lang="en-US" altLang="ja-JP" sz="2400" b="0" i="0" u="none" strike="noStrike" dirty="0">
                <a:effectLst/>
                <a:latin typeface="-apple-system"/>
                <a:hlinkClick r:id="rId2"/>
              </a:rPr>
              <a:t>sakura-tag-v2.4.2-build4203-a3e63915b-Win32-Release-Exe.zip</a:t>
            </a:r>
            <a:br>
              <a:rPr lang="en-US" altLang="ja-JP" sz="1400" dirty="0"/>
            </a:br>
            <a:r>
              <a:rPr lang="en-US" altLang="ja-JP" sz="1400" dirty="0"/>
              <a:t>                 </a:t>
            </a:r>
            <a:r>
              <a:rPr lang="en-US" altLang="ja-JP" sz="2400" dirty="0"/>
              <a:t>※ </a:t>
            </a:r>
            <a:r>
              <a:rPr lang="ja-JP" altLang="en-US" sz="2400" dirty="0"/>
              <a:t>すべてデフォルト設定でインストールを進めてください</a:t>
            </a:r>
          </a:p>
        </p:txBody>
      </p:sp>
      <p:sp>
        <p:nvSpPr>
          <p:cNvPr id="10" name="Content Placeholder 2">
            <a:extLst>
              <a:ext uri="{FF2B5EF4-FFF2-40B4-BE49-F238E27FC236}">
                <a16:creationId xmlns:a16="http://schemas.microsoft.com/office/drawing/2014/main" id="{63BE5D05-EFC9-585A-4C8C-D9D4156695B9}"/>
              </a:ext>
            </a:extLst>
          </p:cNvPr>
          <p:cNvSpPr txBox="1">
            <a:spLocks/>
          </p:cNvSpPr>
          <p:nvPr/>
        </p:nvSpPr>
        <p:spPr>
          <a:xfrm>
            <a:off x="609600" y="5204403"/>
            <a:ext cx="7973466" cy="138312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sz="2400" dirty="0"/>
              <a:t>Microsoft Edge </a:t>
            </a:r>
            <a:r>
              <a:rPr lang="ja-JP" altLang="en-US" sz="2400" dirty="0"/>
              <a:t>の最新版を用いて進める想定です。</a:t>
            </a:r>
            <a:endParaRPr lang="en-US" altLang="ja-JP" sz="2400" dirty="0"/>
          </a:p>
          <a:p>
            <a:pPr marL="0" indent="0">
              <a:buNone/>
            </a:pPr>
            <a:r>
              <a:rPr lang="ja-JP" altLang="en-US" sz="2400" dirty="0"/>
              <a:t>その他のブラウザをご利用の場合は動作や画面構成などが異なる可能性があります。</a:t>
            </a:r>
            <a:endParaRPr lang="en-US" altLang="ja-JP"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ja-JP" altLang="en-US" dirty="0"/>
              <a:t>補遺 </a:t>
            </a:r>
            <a:r>
              <a:rPr lang="en-US" altLang="ja-JP" dirty="0"/>
              <a:t>1 : </a:t>
            </a:r>
            <a:r>
              <a:rPr lang="ja-JP" altLang="en-US" dirty="0"/>
              <a:t>前提及び受講前の準備</a:t>
            </a:r>
            <a:endParaRPr dirty="0"/>
          </a:p>
        </p:txBody>
      </p:sp>
      <p:sp>
        <p:nvSpPr>
          <p:cNvPr id="5" name="Content Placeholder 2">
            <a:extLst>
              <a:ext uri="{FF2B5EF4-FFF2-40B4-BE49-F238E27FC236}">
                <a16:creationId xmlns:a16="http://schemas.microsoft.com/office/drawing/2014/main" id="{CC061DAB-BD89-CB80-8A82-586E4CBE91A9}"/>
              </a:ext>
            </a:extLst>
          </p:cNvPr>
          <p:cNvSpPr txBox="1">
            <a:spLocks/>
          </p:cNvSpPr>
          <p:nvPr/>
        </p:nvSpPr>
        <p:spPr>
          <a:xfrm>
            <a:off x="609600" y="1451003"/>
            <a:ext cx="7973466" cy="64539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ja-JP" dirty="0"/>
              <a:t>c) </a:t>
            </a:r>
            <a:r>
              <a:rPr lang="ja-JP" altLang="en-US" dirty="0"/>
              <a:t>拡張子 </a:t>
            </a:r>
            <a:r>
              <a:rPr lang="en-US" altLang="ja-JP" dirty="0"/>
              <a:t>(File extension) </a:t>
            </a:r>
            <a:r>
              <a:rPr lang="ja-JP" altLang="en-US" dirty="0"/>
              <a:t>の表示</a:t>
            </a:r>
          </a:p>
        </p:txBody>
      </p:sp>
      <p:sp>
        <p:nvSpPr>
          <p:cNvPr id="9" name="Content Placeholder 2">
            <a:extLst>
              <a:ext uri="{FF2B5EF4-FFF2-40B4-BE49-F238E27FC236}">
                <a16:creationId xmlns:a16="http://schemas.microsoft.com/office/drawing/2014/main" id="{CB25E8C2-14F0-92EF-2587-B2E4A96DC705}"/>
              </a:ext>
            </a:extLst>
          </p:cNvPr>
          <p:cNvSpPr txBox="1">
            <a:spLocks/>
          </p:cNvSpPr>
          <p:nvPr/>
        </p:nvSpPr>
        <p:spPr>
          <a:xfrm>
            <a:off x="609600" y="2096391"/>
            <a:ext cx="7973466" cy="4251147"/>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sz="2400" dirty="0"/>
              <a:t>拡張子の表示設定をオンにしてください。</a:t>
            </a:r>
            <a:endParaRPr lang="en-US" altLang="ja-JP" sz="2400" dirty="0"/>
          </a:p>
          <a:p>
            <a:pPr marL="0" indent="0">
              <a:buNone/>
            </a:pPr>
            <a:r>
              <a:rPr lang="ja-JP" altLang="en-US" sz="2400" dirty="0"/>
              <a:t>手順は下記の通りです。</a:t>
            </a:r>
            <a:endParaRPr lang="en-US" altLang="ja-JP" sz="2400" dirty="0"/>
          </a:p>
          <a:p>
            <a:pPr marL="0" indent="0">
              <a:buNone/>
            </a:pPr>
            <a:endParaRPr lang="en-US" altLang="ja-JP" sz="2400" dirty="0"/>
          </a:p>
          <a:p>
            <a:pPr marL="0" indent="0">
              <a:buNone/>
            </a:pPr>
            <a:r>
              <a:rPr lang="ja-JP" altLang="en-US" sz="2400" dirty="0"/>
              <a:t>・任意のフォルダにて</a:t>
            </a:r>
            <a:endParaRPr lang="en-US" altLang="ja-JP" sz="2400" dirty="0"/>
          </a:p>
          <a:p>
            <a:pPr marL="0" indent="0">
              <a:buNone/>
            </a:pPr>
            <a:r>
              <a:rPr lang="ja-JP" altLang="en-US" sz="2400" dirty="0"/>
              <a:t> </a:t>
            </a:r>
            <a:r>
              <a:rPr lang="en-US" altLang="ja-JP" sz="2400" dirty="0"/>
              <a:t>[</a:t>
            </a:r>
            <a:r>
              <a:rPr lang="ja-JP" altLang="en-US" sz="2400" dirty="0"/>
              <a:t>表示</a:t>
            </a:r>
            <a:r>
              <a:rPr lang="en-US" altLang="ja-JP" sz="2400" dirty="0"/>
              <a:t>] –</a:t>
            </a:r>
            <a:r>
              <a:rPr lang="ja-JP" altLang="en-US" sz="2400" dirty="0"/>
              <a:t> </a:t>
            </a:r>
            <a:r>
              <a:rPr lang="en-US" altLang="ja-JP" sz="2400" dirty="0"/>
              <a:t>[</a:t>
            </a:r>
            <a:r>
              <a:rPr lang="ja-JP" altLang="en-US" sz="2400" dirty="0"/>
              <a:t>表示</a:t>
            </a:r>
            <a:r>
              <a:rPr lang="en-US" altLang="ja-JP" sz="2400" dirty="0"/>
              <a:t>] – [</a:t>
            </a:r>
            <a:r>
              <a:rPr lang="ja-JP" altLang="en-US" sz="2400" dirty="0"/>
              <a:t>ファイル拡張子</a:t>
            </a:r>
            <a:r>
              <a:rPr lang="en-US" altLang="ja-JP" sz="2400" dirty="0"/>
              <a:t>]</a:t>
            </a:r>
          </a:p>
          <a:p>
            <a:pPr marL="0" indent="0">
              <a:buNone/>
            </a:pPr>
            <a:r>
              <a:rPr lang="ja-JP" altLang="en-US" sz="2400" dirty="0"/>
              <a:t>にチェックを付ける</a:t>
            </a:r>
            <a:endParaRPr lang="en-US" altLang="ja-JP" sz="2400" dirty="0"/>
          </a:p>
          <a:p>
            <a:pPr marL="0" indent="0">
              <a:buNone/>
            </a:pPr>
            <a:endParaRPr lang="en-US" altLang="ja-JP" sz="2400" dirty="0"/>
          </a:p>
          <a:p>
            <a:pPr marL="0" indent="0">
              <a:buNone/>
            </a:pPr>
            <a:r>
              <a:rPr lang="ja-JP" altLang="en-US" sz="2400" dirty="0"/>
              <a:t>ファイル名に 〇〇</a:t>
            </a:r>
            <a:r>
              <a:rPr lang="en-US" altLang="ja-JP" sz="2400" dirty="0"/>
              <a:t>.</a:t>
            </a:r>
            <a:r>
              <a:rPr lang="ja-JP" altLang="en-US" sz="2400" dirty="0"/>
              <a:t>〇〇〇のように</a:t>
            </a:r>
            <a:endParaRPr lang="en-US" altLang="ja-JP" sz="2400" dirty="0"/>
          </a:p>
          <a:p>
            <a:pPr marL="0" indent="0">
              <a:buNone/>
            </a:pPr>
            <a:r>
              <a:rPr lang="en-US" altLang="ja-JP" sz="2400" dirty="0"/>
              <a:t>“.” + </a:t>
            </a:r>
            <a:r>
              <a:rPr lang="ja-JP" altLang="en-US" sz="2400" dirty="0"/>
              <a:t>アルファベットが追加されれば</a:t>
            </a:r>
            <a:endParaRPr lang="en-US" altLang="ja-JP" sz="2400" dirty="0"/>
          </a:p>
          <a:p>
            <a:pPr marL="0" indent="0">
              <a:buNone/>
            </a:pPr>
            <a:r>
              <a:rPr lang="en-US" altLang="ja-JP" sz="2400" dirty="0"/>
              <a:t>OK </a:t>
            </a:r>
            <a:r>
              <a:rPr lang="ja-JP" altLang="en-US" sz="2400" dirty="0"/>
              <a:t>です。</a:t>
            </a:r>
            <a:endParaRPr lang="en-US" altLang="ja-JP" sz="2400" dirty="0"/>
          </a:p>
        </p:txBody>
      </p:sp>
      <p:pic>
        <p:nvPicPr>
          <p:cNvPr id="7" name="図 6">
            <a:extLst>
              <a:ext uri="{FF2B5EF4-FFF2-40B4-BE49-F238E27FC236}">
                <a16:creationId xmlns:a16="http://schemas.microsoft.com/office/drawing/2014/main" id="{42A91F69-5167-BC17-5971-484A482B23EF}"/>
              </a:ext>
            </a:extLst>
          </p:cNvPr>
          <p:cNvPicPr>
            <a:picLocks noChangeAspect="1"/>
          </p:cNvPicPr>
          <p:nvPr/>
        </p:nvPicPr>
        <p:blipFill>
          <a:blip r:embed="rId2"/>
          <a:stretch>
            <a:fillRect/>
          </a:stretch>
        </p:blipFill>
        <p:spPr>
          <a:xfrm>
            <a:off x="5246346" y="3175678"/>
            <a:ext cx="3897654" cy="3171860"/>
          </a:xfrm>
          <a:prstGeom prst="rect">
            <a:avLst/>
          </a:prstGeom>
        </p:spPr>
      </p:pic>
    </p:spTree>
    <p:extLst>
      <p:ext uri="{BB962C8B-B14F-4D97-AF65-F5344CB8AC3E}">
        <p14:creationId xmlns:p14="http://schemas.microsoft.com/office/powerpoint/2010/main" val="37073798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ja-JP" altLang="en-US" dirty="0"/>
              <a:t>補遺 </a:t>
            </a:r>
            <a:r>
              <a:rPr lang="en-US" altLang="ja-JP" dirty="0"/>
              <a:t>2 :</a:t>
            </a:r>
            <a:r>
              <a:rPr lang="ja-JP" altLang="en-US" dirty="0"/>
              <a:t>参考文献</a:t>
            </a:r>
            <a:endParaRPr dirty="0"/>
          </a:p>
        </p:txBody>
      </p:sp>
      <p:sp>
        <p:nvSpPr>
          <p:cNvPr id="10" name="Content Placeholder 2">
            <a:extLst>
              <a:ext uri="{FF2B5EF4-FFF2-40B4-BE49-F238E27FC236}">
                <a16:creationId xmlns:a16="http://schemas.microsoft.com/office/drawing/2014/main" id="{63BE5D05-EFC9-585A-4C8C-D9D4156695B9}"/>
              </a:ext>
            </a:extLst>
          </p:cNvPr>
          <p:cNvSpPr txBox="1">
            <a:spLocks/>
          </p:cNvSpPr>
          <p:nvPr/>
        </p:nvSpPr>
        <p:spPr>
          <a:xfrm>
            <a:off x="609600" y="1417639"/>
            <a:ext cx="7973466" cy="516989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ja-JP" altLang="en-US" sz="2400" dirty="0"/>
              <a:t>・ </a:t>
            </a:r>
            <a:r>
              <a:rPr lang="en-US" altLang="ja-JP" sz="2400" dirty="0"/>
              <a:t>Wikipedia (</a:t>
            </a:r>
            <a:r>
              <a:rPr lang="ja-JP" altLang="en-US" sz="2400" dirty="0"/>
              <a:t>ブラウザ各種 アイコン画像</a:t>
            </a:r>
            <a:r>
              <a:rPr lang="en-US" altLang="ja-JP" sz="2400" dirty="0"/>
              <a:t>)</a:t>
            </a:r>
          </a:p>
          <a:p>
            <a:pPr marL="0" indent="0">
              <a:buNone/>
            </a:pPr>
            <a:r>
              <a:rPr lang="en-US" altLang="ja-JP" sz="2400" dirty="0"/>
              <a:t>	</a:t>
            </a:r>
            <a:r>
              <a:rPr lang="en-US" altLang="ja-JP" sz="1400" dirty="0">
                <a:hlinkClick r:id="rId2"/>
              </a:rPr>
              <a:t>Wikipedia</a:t>
            </a:r>
            <a:endParaRPr lang="en-US" altLang="ja-JP" sz="2400" dirty="0"/>
          </a:p>
          <a:p>
            <a:pPr marL="0" indent="0">
              <a:buNone/>
            </a:pPr>
            <a:endParaRPr lang="en-US" altLang="ja-JP" sz="2400" dirty="0"/>
          </a:p>
          <a:p>
            <a:pPr marL="0" indent="0">
              <a:buNone/>
            </a:pPr>
            <a:r>
              <a:rPr lang="ja-JP" altLang="en-US" sz="2400" dirty="0"/>
              <a:t>・ </a:t>
            </a:r>
            <a:r>
              <a:rPr lang="en-US" altLang="ja-JP" sz="2400" dirty="0"/>
              <a:t>MDN (JavaScript </a:t>
            </a:r>
            <a:r>
              <a:rPr lang="ja-JP" altLang="en-US" sz="2400" dirty="0"/>
              <a:t>実装確認</a:t>
            </a:r>
            <a:r>
              <a:rPr lang="en-US" altLang="ja-JP" sz="2400" dirty="0"/>
              <a:t>)</a:t>
            </a:r>
          </a:p>
          <a:p>
            <a:pPr marL="0" indent="0">
              <a:buNone/>
            </a:pPr>
            <a:r>
              <a:rPr lang="en-US" altLang="ja-JP" sz="2400" dirty="0"/>
              <a:t>	</a:t>
            </a:r>
            <a:r>
              <a:rPr lang="en-US" altLang="ja-JP" sz="1400" b="0" i="0" u="none" strike="noStrike" dirty="0">
                <a:effectLst/>
                <a:latin typeface="Arial" panose="020B0604020202020204" pitchFamily="34" charset="0"/>
                <a:hlinkClick r:id="rId3"/>
              </a:rPr>
              <a:t>JavaScript - MDN Web Docs - Mozilla</a:t>
            </a:r>
          </a:p>
          <a:p>
            <a:pPr marL="0" indent="0">
              <a:buNone/>
            </a:pPr>
            <a:endParaRPr lang="en-US" altLang="ja-JP" sz="2400" dirty="0"/>
          </a:p>
        </p:txBody>
      </p:sp>
    </p:spTree>
    <p:extLst>
      <p:ext uri="{BB962C8B-B14F-4D97-AF65-F5344CB8AC3E}">
        <p14:creationId xmlns:p14="http://schemas.microsoft.com/office/powerpoint/2010/main" val="8322073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ja-JP" altLang="en-US" dirty="0"/>
              <a:t>補遺 </a:t>
            </a:r>
            <a:r>
              <a:rPr lang="en-US" altLang="ja-JP" dirty="0"/>
              <a:t>3 : </a:t>
            </a:r>
            <a:r>
              <a:rPr lang="ja-JP" altLang="en-US" dirty="0"/>
              <a:t>講師紹介</a:t>
            </a:r>
            <a:endParaRPr dirty="0"/>
          </a:p>
        </p:txBody>
      </p:sp>
      <p:sp>
        <p:nvSpPr>
          <p:cNvPr id="4" name="Content Placeholder 2">
            <a:extLst>
              <a:ext uri="{FF2B5EF4-FFF2-40B4-BE49-F238E27FC236}">
                <a16:creationId xmlns:a16="http://schemas.microsoft.com/office/drawing/2014/main" id="{A7C4AB37-56F6-D902-FDD3-83C2048E46A6}"/>
              </a:ext>
            </a:extLst>
          </p:cNvPr>
          <p:cNvSpPr txBox="1">
            <a:spLocks/>
          </p:cNvSpPr>
          <p:nvPr/>
        </p:nvSpPr>
        <p:spPr>
          <a:xfrm>
            <a:off x="457200" y="5053892"/>
            <a:ext cx="7903029" cy="138312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ja-JP" altLang="en-US" dirty="0">
              <a:latin typeface="+mj-lt"/>
            </a:endParaRPr>
          </a:p>
        </p:txBody>
      </p:sp>
      <p:sp>
        <p:nvSpPr>
          <p:cNvPr id="10" name="Content Placeholder 2">
            <a:extLst>
              <a:ext uri="{FF2B5EF4-FFF2-40B4-BE49-F238E27FC236}">
                <a16:creationId xmlns:a16="http://schemas.microsoft.com/office/drawing/2014/main" id="{63BE5D05-EFC9-585A-4C8C-D9D4156695B9}"/>
              </a:ext>
            </a:extLst>
          </p:cNvPr>
          <p:cNvSpPr txBox="1">
            <a:spLocks/>
          </p:cNvSpPr>
          <p:nvPr/>
        </p:nvSpPr>
        <p:spPr>
          <a:xfrm>
            <a:off x="609600" y="1417639"/>
            <a:ext cx="7973466" cy="516989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l" rtl="0">
              <a:buNone/>
            </a:pPr>
            <a:r>
              <a:rPr lang="en-US" altLang="ja-JP" sz="2400" dirty="0"/>
              <a:t>So Nakabayashi</a:t>
            </a:r>
            <a:r>
              <a:rPr lang="ja-JP" altLang="en-US" sz="2400" dirty="0"/>
              <a:t> </a:t>
            </a:r>
            <a:r>
              <a:rPr lang="en-US" altLang="ja-JP" sz="2400" dirty="0"/>
              <a:t>(</a:t>
            </a:r>
            <a:r>
              <a:rPr lang="ja-JP" altLang="en-US" sz="2400" dirty="0"/>
              <a:t>中林 創</a:t>
            </a:r>
            <a:r>
              <a:rPr lang="en-US" altLang="ja-JP" sz="2400" dirty="0"/>
              <a:t>)</a:t>
            </a:r>
          </a:p>
          <a:p>
            <a:pPr marL="0" indent="0" algn="l" rtl="0">
              <a:buNone/>
            </a:pPr>
            <a:endParaRPr lang="en-US" altLang="ja-JP" sz="2400" dirty="0"/>
          </a:p>
          <a:p>
            <a:r>
              <a:rPr lang="ja-JP" altLang="en-US" sz="2400" dirty="0"/>
              <a:t>居住地</a:t>
            </a:r>
            <a:r>
              <a:rPr lang="en-US" altLang="ja-JP" sz="2400" dirty="0"/>
              <a:t> : </a:t>
            </a:r>
            <a:r>
              <a:rPr lang="ja-JP" altLang="en-US" sz="2400" dirty="0"/>
              <a:t>滋賀県 大津市</a:t>
            </a:r>
            <a:endParaRPr lang="en-US" altLang="ja-JP" sz="2400" dirty="0"/>
          </a:p>
          <a:p>
            <a:r>
              <a:rPr lang="ja-JP" altLang="en-US" sz="2400" dirty="0"/>
              <a:t>年齢 </a:t>
            </a:r>
            <a:r>
              <a:rPr lang="en-US" altLang="ja-JP" sz="2400" dirty="0"/>
              <a:t>: 0x20 </a:t>
            </a:r>
            <a:r>
              <a:rPr lang="ja-JP" altLang="en-US" sz="2400" dirty="0"/>
              <a:t>代</a:t>
            </a:r>
            <a:r>
              <a:rPr lang="en-US" altLang="ja-JP" sz="2400" dirty="0"/>
              <a:t> </a:t>
            </a:r>
          </a:p>
          <a:p>
            <a:r>
              <a:rPr lang="ja-JP" altLang="en-US" sz="2400" dirty="0"/>
              <a:t>現職 </a:t>
            </a:r>
            <a:r>
              <a:rPr lang="en-US" altLang="ja-JP" sz="2400" dirty="0"/>
              <a:t>: </a:t>
            </a:r>
            <a:r>
              <a:rPr lang="ja-JP" altLang="en-US" sz="2400" dirty="0"/>
              <a:t>日本マイクロソフト株式会社</a:t>
            </a:r>
            <a:endParaRPr lang="en-US" altLang="ja-JP" sz="2400" dirty="0"/>
          </a:p>
          <a:p>
            <a:r>
              <a:rPr lang="ja-JP" altLang="en-US" sz="2400" dirty="0"/>
              <a:t>好きなプログラミング言語</a:t>
            </a:r>
            <a:r>
              <a:rPr lang="en-US" altLang="ja-JP" sz="2400" dirty="0"/>
              <a:t> : C#</a:t>
            </a:r>
          </a:p>
          <a:p>
            <a:r>
              <a:rPr lang="ja-JP" altLang="en-US" sz="2400" dirty="0"/>
              <a:t>嫌いなプログラミング言語</a:t>
            </a:r>
            <a:r>
              <a:rPr lang="en-US" altLang="ja-JP" sz="2400" dirty="0"/>
              <a:t> : JavaScript</a:t>
            </a:r>
          </a:p>
          <a:p>
            <a:r>
              <a:rPr lang="ja-JP" altLang="en-US" sz="2400" dirty="0"/>
              <a:t>趣味</a:t>
            </a:r>
            <a:r>
              <a:rPr lang="en-US" altLang="ja-JP" sz="2400" dirty="0"/>
              <a:t> : </a:t>
            </a:r>
            <a:r>
              <a:rPr lang="ja-JP" altLang="en-US" sz="2400" dirty="0"/>
              <a:t>紅茶、サメグッズ集め</a:t>
            </a:r>
            <a:endParaRPr lang="en-US" altLang="ja-JP" sz="2400" dirty="0"/>
          </a:p>
          <a:p>
            <a:r>
              <a:rPr lang="ja-JP" altLang="en-US" sz="2400" dirty="0"/>
              <a:t>目下の目標 </a:t>
            </a:r>
            <a:r>
              <a:rPr lang="en-US" altLang="ja-JP" sz="2400" dirty="0"/>
              <a:t>: </a:t>
            </a:r>
            <a:r>
              <a:rPr lang="ja-JP" altLang="en-US" sz="2400" dirty="0"/>
              <a:t>痩せる</a:t>
            </a:r>
            <a:r>
              <a:rPr lang="en-US" altLang="ja-JP" sz="2400" dirty="0"/>
              <a:t> </a:t>
            </a:r>
          </a:p>
          <a:p>
            <a:pPr marL="0" indent="0" algn="l" rtl="0">
              <a:buNone/>
            </a:pPr>
            <a:endParaRPr lang="en-US" altLang="ja-JP" sz="2400" dirty="0"/>
          </a:p>
        </p:txBody>
      </p:sp>
      <p:pic>
        <p:nvPicPr>
          <p:cNvPr id="2050" name="Picture 2">
            <a:extLst>
              <a:ext uri="{FF2B5EF4-FFF2-40B4-BE49-F238E27FC236}">
                <a16:creationId xmlns:a16="http://schemas.microsoft.com/office/drawing/2014/main" id="{19327C96-A5FC-E53B-BEC5-E61B62AC1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7472" y="4103061"/>
            <a:ext cx="2757994" cy="2333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9359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2801</TotalTime>
  <Words>2232</Words>
  <Application>Microsoft Office PowerPoint</Application>
  <PresentationFormat>画面に合わせる (4:3)</PresentationFormat>
  <Paragraphs>337</Paragraphs>
  <Slides>39</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39</vt:i4>
      </vt:variant>
    </vt:vector>
  </HeadingPairs>
  <TitlesOfParts>
    <vt:vector size="44" baseType="lpstr">
      <vt:lpstr>-apple-system</vt:lpstr>
      <vt:lpstr>Google Sans</vt:lpstr>
      <vt:lpstr>Arial</vt:lpstr>
      <vt:lpstr>Calibri</vt:lpstr>
      <vt:lpstr>Office Theme</vt:lpstr>
      <vt:lpstr>JavaScript で変数と関数を学ぶ</vt:lpstr>
      <vt:lpstr>Agenda</vt:lpstr>
      <vt:lpstr>Learning Objectives :</vt:lpstr>
      <vt:lpstr>Introduction</vt:lpstr>
      <vt:lpstr>Browser と Html</vt:lpstr>
      <vt:lpstr>Browser と Html</vt:lpstr>
      <vt:lpstr>2. Html における Object の配置</vt:lpstr>
      <vt:lpstr>2. Html における Object の配置</vt:lpstr>
      <vt:lpstr>2. Html における Object の配置</vt:lpstr>
      <vt:lpstr>2. Html における Object の配置</vt:lpstr>
      <vt:lpstr>2. Html における Object の配置</vt:lpstr>
      <vt:lpstr>3. JavaScript</vt:lpstr>
      <vt:lpstr>3. JavaScript</vt:lpstr>
      <vt:lpstr>3. JavaScript</vt:lpstr>
      <vt:lpstr>3. JavaScript</vt:lpstr>
      <vt:lpstr>3. JavaScript</vt:lpstr>
      <vt:lpstr>3. JavaScript</vt:lpstr>
      <vt:lpstr>4. 標準関数と独自関数</vt:lpstr>
      <vt:lpstr>4. 標準関数と独自関数</vt:lpstr>
      <vt:lpstr>4. 標準関数と独自関数</vt:lpstr>
      <vt:lpstr>4. 標準関数と独自関数</vt:lpstr>
      <vt:lpstr>4. 標準関数と独自関数</vt:lpstr>
      <vt:lpstr>4. 標準関数と独自関数</vt:lpstr>
      <vt:lpstr>4. 標準関数と独自関数</vt:lpstr>
      <vt:lpstr>4. 標準関数と独自関数</vt:lpstr>
      <vt:lpstr>5. Html Object の DOM 操作</vt:lpstr>
      <vt:lpstr>5. Html Object の DOM 操作</vt:lpstr>
      <vt:lpstr>5. Html Object の DOM 操作</vt:lpstr>
      <vt:lpstr>5. Html Object の DOM 操作</vt:lpstr>
      <vt:lpstr>6. 例外処理</vt:lpstr>
      <vt:lpstr>6. 例外処理</vt:lpstr>
      <vt:lpstr>6. 例外処理</vt:lpstr>
      <vt:lpstr>6. 例外処理</vt:lpstr>
      <vt:lpstr>6. 例外処理</vt:lpstr>
      <vt:lpstr>This course’s summary</vt:lpstr>
      <vt:lpstr>補遺 1 : 前提及び受講前の準備</vt:lpstr>
      <vt:lpstr>補遺 1 : 前提及び受講前の準備</vt:lpstr>
      <vt:lpstr>補遺 2 :参考文献</vt:lpstr>
      <vt:lpstr>補遺 3 : 講師紹介</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 Nakabayashi</cp:lastModifiedBy>
  <cp:revision>14</cp:revision>
  <dcterms:created xsi:type="dcterms:W3CDTF">2013-01-27T09:14:16Z</dcterms:created>
  <dcterms:modified xsi:type="dcterms:W3CDTF">2024-08-12T10:13:11Z</dcterms:modified>
  <cp:category/>
</cp:coreProperties>
</file>