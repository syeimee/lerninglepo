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71" r:id="rId6"/>
    <p:sldId id="258" r:id="rId7"/>
    <p:sldId id="273" r:id="rId8"/>
    <p:sldId id="274" r:id="rId9"/>
    <p:sldId id="331" r:id="rId10"/>
    <p:sldId id="332" r:id="rId11"/>
    <p:sldId id="330" r:id="rId12"/>
    <p:sldId id="329" r:id="rId13"/>
    <p:sldId id="333" r:id="rId14"/>
    <p:sldId id="278" r:id="rId15"/>
    <p:sldId id="334" r:id="rId16"/>
    <p:sldId id="312" r:id="rId17"/>
    <p:sldId id="335" r:id="rId18"/>
    <p:sldId id="31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1" autoAdjust="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522" y="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jp/%E3%81%BF%E3%81%9A%E3%81%BB%E9%8A%80%E8%A1%8C%E3%82%B7%E3%82%B9%E3%83%86%E3%83%A0%E7%B5%B1%E5%90%88%E3%80%81%E8%8B%A6%E9%97%98%E3%81%AE19%E5%B9%B4%E5%8F%B2-%E5%8F%B2%E4%B8%8A%E6%9C%80%E5%A4%A7%E3%81%AEIT%E3%83%97%E3%83%AD%E3%82%B8%E3%82%A7%E3%82%AF%E3%83%88%E3%80%8C3%E5%BA%A6%E7%9B%AE%E3%81%AE%E6%AD%A3%E7%9B%B4%E3%80%8D-%E6%97%A5%E7%B5%8C%E3%82%B3%E3%83%B3%E3%83%94%E3%83%A5%E3%83%BC%E3%82%BF/dp/4296105353/ref=sr_1_1?crid=BZ3IO2O531EE&amp;dib=eyJ2IjoiMSJ9.jMy5D0bwcLucRptbYZ6x0DcvFtG8jaQhLJHO3Of5xeDgOvBba0fX2isUPGf26CccpzOiHO5CICPrlzHj09WNBKa2QqBmagAYImwbSUr4I7CX9MUQxI0MbONj6bCUiCjQGdYhlAm9TNtgPKjdd4-IVyciqFzbABATWXq0nH4z5Jy5ykWtni5X7WsrbEOXct0AwsVtmKQ7uLikovyxceGpHQZ_IR8C-smZRPx7LHoOsds6DOrDZQHDxlsU_9UvsVL3V5lIY5toZeKQmP_30GhDgpwq0FvHYp7iReSmYKLoLBY.5OwNYYSQShQxgHBMEfgTBWNS34IS4TTzT0waLxD2P7M&amp;dib_tag=se&amp;keywords=%E3%81%BF%E3%81%9A%E3%81%BB%E9%8A%80%E8%A1%8C%E3%82%B7%E3%82%B9%E3%83%86%E3%83%A0%E7%B5%B1%E5%90%88&amp;qid=1724780250&amp;sprefix=%E3%81%BF%E3%81%9A%E3%81%BB%E9%8A%80%E8%A1%8C%2Caps%2C184&amp;sr=8-1" TargetMode="External"/><Relationship Id="rId7" Type="http://schemas.openxmlformats.org/officeDocument/2006/relationships/hyperlink" Target="https://www.amazon.co.jp/%E3%81%AF%E3%81%98%E3%82%81%E3%81%A6%E3%81%AE%E4%BA%BA%E3%81%AE%E7%B0%BF%E8%A8%98%E5%85%A5%E9%96%80%E5%A1%BE%E2%80%95%E3%81%BE%E3%81%9A%E3%81%AF%E3%81%93%E3%81%AE%E6%9C%AC%E3%81%8B%E3%82%89-%E6%B5%9C%E7%94%B0-%E5%8B%9D%E7%BE%A9/dp/4761262907/ref=sr_1_1?crid=1CV00SVCEQWN6&amp;dib=eyJ2IjoiMSJ9.TOt1J3JuDZlRDXEI5Fs7we_IWjfYavISTP9_mbm60E8X0W3agNsz2NLrhuKr3Stz6fqZZyy3fmWivAPSRHGBwJtslLV2lULQBJ28rCk__JhTCOhe4bvRzQ-RXfljjk4XxvibwrYaXyKYkV7TTNxmrGCnDjEy2OpyXurylGkvGRzrKQ2ZvpzV627gzYhb9evIM76VZgiW0bzJzrLVlB3s5ZgK53paZWu5ZqzgjQidT8aPHKVkZexsFYWHDSyExRb5gK5t8ZKdcfY2REYGggrLZYiYM2Q9fCLsegbVN1jbxAY.-bQrZL8LdAUsLhVHDgoDol9fZ3jN0W-B3K1Jjl6E7eo&amp;dib_tag=se&amp;keywords=%E3%81%AF%E3%81%98%E3%82%81%E3%81%A6%E3%81%AE%E4%BA%BA%E3%81%AE%E7%B0%BF%E8%A8%98&amp;qid=1724780558&amp;sprefix=%E3%81%AF%E3%81%98%E3%82%81%E3%81%A6%E3%81%AE%E4%BA%BA%E3%81%AE%2Caps%2C183&amp;sr=8-1" TargetMode="External"/><Relationship Id="rId2" Type="http://schemas.openxmlformats.org/officeDocument/2006/relationships/hyperlink" Target="https://www.amazon.co.jp/%E3%81%AF%E3%81%98%E3%82%81%E3%82%88%E3%81%86-%E8%A6%81%E4%BB%B6%E5%AE%9A%E7%BE%A9-%E3%83%93%E3%82%AE%E3%83%8A%E3%83%BC%E3%81%8B%E3%82%89%E3%83%99%E3%83%86%E3%83%A9%E3%83%B3%E3%81%BE%E3%81%A7-%E7%BE%BD%E7%94%9F-%E7%AB%A0%E6%B4%8B/dp/4774172286/ref=sr_1_6?crid=2REXSMHMQVETC&amp;dib=eyJ2IjoiMSJ9.bZdiXi9Hb_gIhxbEeHcERNUvh3kFNPwgL0xXnEDr8yHic2P6sPuEpAFP-2f4AQZhnsFhn3bre17AxJTgVrEpUNm22Pc1uV93SiefSgZ2-UY_YXm1YLS8uSrDlhGZrkg-_Su2O6DXsMcu0ZOQjVbV6SomxhiWKBB7lLfLx2_3tqcQbercoX_bBIHibCbuwTDUYD3JkwHoWiTUZgxBhTf_2Sfd6h8xzPCULzu0g_DbFQfI-cMzsRJlk2Ba77yWuMdwyRzIMENR0IM6YFILRI7PSIKYJDuFAXKzJRV1eyZ7ayw.vjTc-fiVQqi7IDYuIeq9lLSt9jh5VXnnJN7QOllRNnQ&amp;dib_tag=se&amp;keywords=%E8%A6%81%E4%BB%B6%E5%AE%9A%E7%BE%A9&amp;qid=1724780496&amp;sprefix=%E8%A6%81%E4%BB%B6%E5%AE%9A%E7%BE%A9%2Caps%2C182&amp;sr=8-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mazon.co.jp/%E3%80%8C%E3%82%8F%E3%81%8B%E3%82%8A%E3%81%82%E3%81%88%E3%81%AA%E3%81%84%E3%80%8D%E3%82%92%E8%B6%8A%E3%81%88%E3%82%8B%E2%80%95%E2%80%95%E7%9B%AE%E3%81%AE%E5%89%8D%E3%81%AE%E3%81%A4%E3%81%AA%E3%81%8C%E3%82%8A%E3%81%8B%E3%82%89%E3%80%81%E5%85%B1%E3%81%AB%E6%9C%AA%E6%9D%A5%E3%82%92%E3%81%A4%E3%81%8F%E3%82%8B%E3%82%B3%E3%83%9F%E3%83%A5%E3%83%8B%E3%82%B1%E3%83%BC%E3%82%B7%E3%83%A7%E3%83%B3%E3%83%BBNVC-%E3%83%9E%E3%83%BC%E3%82%B7%E3%83%A3%E3%83%AB%E3%83%BBB%E3%83%BB%E3%83%AD%E3%83%BC%E3%82%BC%E3%83%B3%E3%83%90%E3%83%BC%E3%82%B0/dp/4909934014/ref=sr_1_1?crid=1A91Y254AR3O&amp;dib=eyJ2IjoiMSJ9.SXBjbIMjmmPI8qK5xXnZUpcJGFUh0L2yX4e_CXMF_wk.2Igj3o5LJsdezaylI6LvVOI6fiKXOtv1l0FYR5UYmdE&amp;dib_tag=se&amp;keywords=%E5%88%86%E3%81%8B%E3%82%8A%E5%90%88%E3%81%88%E3%81%AA%E3%81%84%E3%82%92%E8%B6%8A%E3%81%88%E3%82%8B&amp;qid=1724780181&amp;sprefix=wakariaenaiwo%2Caps%2C172&amp;sr=8-1" TargetMode="External"/><Relationship Id="rId5" Type="http://schemas.openxmlformats.org/officeDocument/2006/relationships/hyperlink" Target="https://www.amazon.co.jp/%E3%82%AA%E3%83%9A%E3%83%AC%E3%83%BC%E3%82%B7%E3%83%A7%E3%83%B3%E7%A7%91%E5%AD%A6-%E5%8A%AA%E5%8A%9B%E3%81%AB%E9%80%83%E3%81%92%E3%81%AA%E3%81%84%E3%80%8C%E3%81%93%E3%82%8C%E3%81%8B%E3%82%89%E3%81%AE%E7%B5%84%E7%B9%94%E3%80%8D%E3%82%92%E4%BD%9C%E3%82%8B-%E4%B8%AD%E8%B0%B7-%E4%B8%80%E9%83%8E/dp/4388154520" TargetMode="External"/><Relationship Id="rId4" Type="http://schemas.openxmlformats.org/officeDocument/2006/relationships/hyperlink" Target="https://www.amazon.co.jp/SE%E3%81%AE%E6%82%B2%E9%B3%B4-IT%E3%82%A8%E3%83%B3%E3%82%B8%E3%83%8B%E3%82%A2%E3%82%92%E9%A3%9F%E3%81%84%E7%89%A9%E3%81%AB%E3%81%99%E3%82%8B%E5%A4%9A%E9%87%8D%E4%B8%8B%E8%AB%8B%E3%81%91%E6%A7%8B%E9%80%A0%E3%81%AE%E9%97%87-%E7%94%B0%E4%B8%AD-%E5%AE%8F%E6%98%8E/dp/43449482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6504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en-US" dirty="0"/>
              <a:t>実装</a:t>
            </a:r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262D1B-6686-F1A1-C927-44FB998FB9A4}"/>
              </a:ext>
            </a:extLst>
          </p:cNvPr>
          <p:cNvSpPr txBox="1">
            <a:spLocks/>
          </p:cNvSpPr>
          <p:nvPr/>
        </p:nvSpPr>
        <p:spPr>
          <a:xfrm>
            <a:off x="601053" y="4623274"/>
            <a:ext cx="8229600" cy="80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/>
              <a:t>株式会社 </a:t>
            </a:r>
            <a:r>
              <a:rPr lang="en-US" altLang="ja-JP" sz="3600" dirty="0"/>
              <a:t>F</a:t>
            </a:r>
            <a:r>
              <a:rPr lang="ja-JP" altLang="en-US" sz="3600" dirty="0"/>
              <a:t> </a:t>
            </a:r>
            <a:r>
              <a:rPr lang="en-US" altLang="ja-JP" sz="3600" dirty="0"/>
              <a:t>:</a:t>
            </a:r>
            <a:r>
              <a:rPr lang="ja-JP" altLang="en-US" sz="3600" dirty="0"/>
              <a:t> </a:t>
            </a:r>
            <a:r>
              <a:rPr lang="en-US" altLang="ja-JP" sz="3600" dirty="0"/>
              <a:t>Training</a:t>
            </a:r>
            <a:endParaRPr lang="ja-JP" alt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260C86-5CF1-422F-778C-60A868CEC8ED}"/>
              </a:ext>
            </a:extLst>
          </p:cNvPr>
          <p:cNvSpPr txBox="1">
            <a:spLocks/>
          </p:cNvSpPr>
          <p:nvPr/>
        </p:nvSpPr>
        <p:spPr>
          <a:xfrm>
            <a:off x="601053" y="5155458"/>
            <a:ext cx="8229600" cy="80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/>
              <a:t>2024/08/28 (Wed) 21:00</a:t>
            </a:r>
            <a:r>
              <a:rPr lang="ja-JP" altLang="en-US" sz="3200" dirty="0"/>
              <a:t>～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B7787D-2480-4892-F32B-2179DAF5CF41}"/>
              </a:ext>
            </a:extLst>
          </p:cNvPr>
          <p:cNvSpPr txBox="1">
            <a:spLocks/>
          </p:cNvSpPr>
          <p:nvPr/>
        </p:nvSpPr>
        <p:spPr>
          <a:xfrm>
            <a:off x="457200" y="1894088"/>
            <a:ext cx="8229600" cy="80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プログラミングの基礎 </a:t>
            </a:r>
            <a:r>
              <a:rPr lang="en-US" altLang="ja-JP" sz="2400" dirty="0"/>
              <a:t>: </a:t>
            </a:r>
            <a:r>
              <a:rPr lang="ja-JP" altLang="en-US" sz="2400" dirty="0"/>
              <a:t>第</a:t>
            </a:r>
            <a:r>
              <a:rPr lang="en-US" altLang="ja-JP" sz="2400" dirty="0"/>
              <a:t>3</a:t>
            </a:r>
            <a:r>
              <a:rPr lang="ja-JP" altLang="en-US" sz="2400" dirty="0"/>
              <a:t>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D2C531-BB0D-5846-9B97-046BBDA2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b="0" i="0" dirty="0">
                <a:solidFill>
                  <a:srgbClr val="040C28"/>
                </a:solidFill>
                <a:effectLst/>
                <a:latin typeface="Google Sans"/>
              </a:rPr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DB938-11C0-CB3C-B3F2-68F73F44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kumimoji="1" lang="ja-JP" altLang="en-US" sz="2700" dirty="0"/>
              <a:t>命名 </a:t>
            </a:r>
            <a:r>
              <a:rPr kumimoji="1" lang="en-US" altLang="ja-JP" sz="2700" dirty="0"/>
              <a:t>(Naming)</a:t>
            </a:r>
          </a:p>
          <a:p>
            <a:pPr marL="514350" indent="-514350">
              <a:buAutoNum type="arabicPeriod"/>
            </a:pPr>
            <a:r>
              <a:rPr kumimoji="1" lang="ja-JP" altLang="en-US" sz="2700" dirty="0"/>
              <a:t>コメント</a:t>
            </a:r>
            <a:endParaRPr kumimoji="1" lang="en-US" altLang="ja-JP" sz="2700" dirty="0"/>
          </a:p>
          <a:p>
            <a:endParaRPr kumimoji="1" lang="en-US" altLang="ja-JP" sz="2700" dirty="0"/>
          </a:p>
          <a:p>
            <a:pPr marL="0" indent="0">
              <a:buNone/>
            </a:pPr>
            <a:r>
              <a:rPr kumimoji="1" lang="en-US" altLang="ja-JP" sz="2700" dirty="0"/>
              <a:t>Ex) System Engineer </a:t>
            </a:r>
            <a:r>
              <a:rPr kumimoji="1" lang="ja-JP" altLang="en-US" sz="2700" dirty="0"/>
              <a:t>向けのおすすめの書籍</a:t>
            </a:r>
            <a:endParaRPr kumimoji="1" lang="en-US" altLang="ja-JP" sz="2700" dirty="0"/>
          </a:p>
          <a:p>
            <a:endParaRPr kumimoji="1" lang="en-US" altLang="ja-JP" sz="2700" dirty="0"/>
          </a:p>
        </p:txBody>
      </p:sp>
    </p:spTree>
    <p:extLst>
      <p:ext uri="{BB962C8B-B14F-4D97-AF65-F5344CB8AC3E}">
        <p14:creationId xmlns:p14="http://schemas.microsoft.com/office/powerpoint/2010/main" val="283985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Learning Objectives 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 以下の知識の理解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* </a:t>
            </a:r>
            <a:r>
              <a:rPr lang="ja-JP" altLang="en-US" dirty="0"/>
              <a:t>変数や関数等の名称の役割と重要性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* </a:t>
            </a:r>
            <a:r>
              <a:rPr lang="ja-JP" altLang="en-US" dirty="0"/>
              <a:t>コメントの必要性</a:t>
            </a:r>
            <a:endParaRPr lang="en-US" altLang="ja-JP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ja-JP" dirty="0"/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C4AB37-56F6-D902-FDD3-83C2048E46A6}"/>
              </a:ext>
            </a:extLst>
          </p:cNvPr>
          <p:cNvSpPr txBox="1">
            <a:spLocks/>
          </p:cNvSpPr>
          <p:nvPr/>
        </p:nvSpPr>
        <p:spPr>
          <a:xfrm>
            <a:off x="457200" y="4755138"/>
            <a:ext cx="7903029" cy="1383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ja-JP" altLang="en-US" dirty="0">
              <a:latin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2"/>
            <a:ext cx="7973466" cy="4241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プログラミング </a:t>
            </a:r>
            <a:r>
              <a:rPr lang="en-US" altLang="ja-JP" dirty="0"/>
              <a:t>(</a:t>
            </a:r>
            <a:r>
              <a:rPr lang="ja-JP" altLang="en-US" dirty="0"/>
              <a:t>コーディング</a:t>
            </a:r>
            <a:r>
              <a:rPr lang="en-US" altLang="ja-JP" dirty="0"/>
              <a:t>)</a:t>
            </a:r>
            <a:r>
              <a:rPr lang="ja-JP" altLang="en-US" dirty="0"/>
              <a:t>を実施する際、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実施前、実施中、実施後それぞれにおいて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重要な事項及び、その優先順位は？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a)</a:t>
            </a:r>
            <a:r>
              <a:rPr lang="ja-JP" altLang="en-US" dirty="0"/>
              <a:t> 実施前 </a:t>
            </a:r>
            <a:r>
              <a:rPr lang="en-US" altLang="ja-JP" dirty="0"/>
              <a:t>: </a:t>
            </a:r>
          </a:p>
          <a:p>
            <a:pPr marL="0" indent="0">
              <a:buNone/>
            </a:pPr>
            <a:r>
              <a:rPr lang="en-US" altLang="ja-JP" dirty="0"/>
              <a:t>b) </a:t>
            </a:r>
            <a:r>
              <a:rPr lang="ja-JP" altLang="en-US" dirty="0"/>
              <a:t>実施中 </a:t>
            </a:r>
            <a:r>
              <a:rPr lang="en-US" altLang="ja-JP" dirty="0"/>
              <a:t>: </a:t>
            </a:r>
          </a:p>
          <a:p>
            <a:pPr marL="0" indent="0">
              <a:buNone/>
            </a:pPr>
            <a:r>
              <a:rPr lang="en-US" altLang="ja-JP" dirty="0"/>
              <a:t>c) </a:t>
            </a:r>
            <a:r>
              <a:rPr lang="ja-JP" altLang="en-US" dirty="0"/>
              <a:t>実施後 </a:t>
            </a:r>
            <a:r>
              <a:rPr lang="en-US" altLang="ja-JP" dirty="0"/>
              <a:t>: </a:t>
            </a:r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25E8C2-14F0-92EF-2587-B2E4A96DC705}"/>
              </a:ext>
            </a:extLst>
          </p:cNvPr>
          <p:cNvSpPr txBox="1">
            <a:spLocks/>
          </p:cNvSpPr>
          <p:nvPr/>
        </p:nvSpPr>
        <p:spPr>
          <a:xfrm>
            <a:off x="609600" y="2096393"/>
            <a:ext cx="7973466" cy="2658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12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kumimoji="1" lang="ja-JP" altLang="en-US" dirty="0"/>
              <a:t>命名 </a:t>
            </a:r>
            <a:r>
              <a:rPr kumimoji="1" lang="en-US" altLang="ja-JP" dirty="0"/>
              <a:t>(Naming)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52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命名とは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変数、関数及び、その他の実装コード上の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要素に対し、固有の名称を付けること</a:t>
            </a:r>
            <a:endParaRPr lang="en-US" altLang="ja-JP" sz="2800" dirty="0"/>
          </a:p>
          <a:p>
            <a:pPr lvl="1"/>
            <a:r>
              <a:rPr lang="ja-JP" altLang="en-US" dirty="0"/>
              <a:t>言語によって制限などは変わる</a:t>
            </a:r>
            <a:endParaRPr lang="en-US" altLang="ja-JP" dirty="0"/>
          </a:p>
          <a:p>
            <a:pPr lvl="2"/>
            <a:r>
              <a:rPr lang="ja-JP" altLang="en-US" dirty="0"/>
              <a:t>大文字小文字の区別</a:t>
            </a:r>
            <a:endParaRPr lang="en-US" altLang="ja-JP" dirty="0"/>
          </a:p>
          <a:p>
            <a:pPr lvl="2"/>
            <a:r>
              <a:rPr lang="ja-JP" altLang="en-US" dirty="0"/>
              <a:t>記号や全角文字の利用可否</a:t>
            </a:r>
            <a:endParaRPr lang="en-US" altLang="ja-JP" dirty="0"/>
          </a:p>
          <a:p>
            <a:pPr lvl="2"/>
            <a:r>
              <a:rPr lang="ja-JP" altLang="en-US" dirty="0"/>
              <a:t>予約語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4726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kumimoji="1" lang="ja-JP" altLang="en-US" dirty="0"/>
              <a:t>命名 </a:t>
            </a:r>
            <a:r>
              <a:rPr kumimoji="1" lang="en-US" altLang="ja-JP" dirty="0"/>
              <a:t>(Naming)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599" y="1451003"/>
            <a:ext cx="8229599" cy="452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ハンズオン ①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800" dirty="0"/>
              <a:t>課題 </a:t>
            </a:r>
            <a:r>
              <a:rPr lang="en-US" altLang="ja-JP" sz="2800" dirty="0"/>
              <a:t>: </a:t>
            </a:r>
            <a:r>
              <a:rPr lang="ja-JP" altLang="en-US" sz="2800" dirty="0"/>
              <a:t>ブラウザ上で動作する、足し算を計算するアプリケーションを作成してください。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なお、下記を満たすことを条件とします。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514350" indent="-514350">
              <a:buAutoNum type="arabicParenR"/>
            </a:pPr>
            <a:r>
              <a:rPr lang="ja-JP" altLang="en-US" sz="2400" dirty="0"/>
              <a:t>画面上にテキストボックスが</a:t>
            </a:r>
            <a:r>
              <a:rPr lang="en-US" altLang="ja-JP" sz="2400" dirty="0"/>
              <a:t>2</a:t>
            </a:r>
            <a:r>
              <a:rPr lang="ja-JP" altLang="en-US" sz="2400" dirty="0"/>
              <a:t>つ、ボタンが</a:t>
            </a:r>
            <a:r>
              <a:rPr lang="en-US" altLang="ja-JP" sz="2400" dirty="0"/>
              <a:t>1</a:t>
            </a:r>
            <a:r>
              <a:rPr lang="ja-JP" altLang="en-US" sz="2400" dirty="0"/>
              <a:t>つ存在すること</a:t>
            </a:r>
            <a:endParaRPr lang="en-US" altLang="ja-JP" sz="2400" dirty="0"/>
          </a:p>
          <a:p>
            <a:pPr marL="514350" indent="-514350">
              <a:buAutoNum type="arabicParenR"/>
            </a:pPr>
            <a:r>
              <a:rPr lang="ja-JP" altLang="en-US" sz="2400" dirty="0"/>
              <a:t>ボタンを押すと、テキストボックスの値が足し算され、計算結果が表示されること</a:t>
            </a:r>
            <a:endParaRPr lang="en-US" altLang="ja-JP" sz="2400" dirty="0"/>
          </a:p>
          <a:p>
            <a:pPr marL="514350" indent="-514350">
              <a:buAutoNum type="arabicParenR"/>
            </a:pPr>
            <a:endParaRPr lang="en-US" altLang="ja-JP" sz="2400" dirty="0"/>
          </a:p>
          <a:p>
            <a:pPr marL="514350" indent="-514350">
              <a:buAutoNum type="arabicParenR"/>
            </a:pPr>
            <a:endParaRPr lang="en-US" altLang="ja-JP" dirty="0"/>
          </a:p>
          <a:p>
            <a:pPr marL="514350" indent="-514350">
              <a:buAutoNum type="arabicParenR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98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kumimoji="1" lang="ja-JP" altLang="en-US" dirty="0"/>
              <a:t>命名 </a:t>
            </a:r>
            <a:r>
              <a:rPr kumimoji="1" lang="en-US" altLang="ja-JP" dirty="0"/>
              <a:t>(Naming)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599" y="1451003"/>
            <a:ext cx="8229599" cy="452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ハンズオン ②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800" dirty="0"/>
              <a:t>課題 </a:t>
            </a:r>
            <a:r>
              <a:rPr lang="en-US" altLang="ja-JP" sz="2800" dirty="0"/>
              <a:t>: </a:t>
            </a:r>
            <a:r>
              <a:rPr lang="ja-JP" altLang="en-US" sz="2800" dirty="0"/>
              <a:t>課題①を修正し、＿＿＿＿＿を実施できるアプリケーションを作成してください。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なお、下記を満たすことを条件とします。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514350" indent="-514350">
              <a:buAutoNum type="arabicParenR"/>
            </a:pPr>
            <a:r>
              <a:rPr lang="ja-JP" altLang="en-US" sz="2400" dirty="0"/>
              <a:t>＿＿＿＿＿＿により、実施する＿＿＿＿を＿＿できること。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514350" indent="-514350">
              <a:buAutoNum type="arabicParenR"/>
            </a:pPr>
            <a:endParaRPr lang="en-US" altLang="ja-JP" sz="2400" dirty="0"/>
          </a:p>
          <a:p>
            <a:pPr marL="514350" indent="-514350">
              <a:buAutoNum type="arabicParenR"/>
            </a:pPr>
            <a:endParaRPr lang="en-US" altLang="ja-JP" dirty="0"/>
          </a:p>
          <a:p>
            <a:pPr marL="514350" indent="-514350">
              <a:buAutoNum type="arabicParenR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5652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kumimoji="1" lang="ja-JP" altLang="en-US" dirty="0"/>
              <a:t>命名 </a:t>
            </a:r>
            <a:r>
              <a:rPr kumimoji="1" lang="en-US" altLang="ja-JP" dirty="0"/>
              <a:t>(Naming)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17639"/>
            <a:ext cx="7973466" cy="456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ja-JP" b="1" dirty="0"/>
          </a:p>
          <a:p>
            <a:pPr marL="0" indent="0" algn="ctr">
              <a:buNone/>
            </a:pPr>
            <a:endParaRPr lang="en-US" altLang="ja-JP" b="1" dirty="0"/>
          </a:p>
          <a:p>
            <a:pPr marL="0" indent="0" algn="ctr">
              <a:buNone/>
            </a:pPr>
            <a:r>
              <a:rPr lang="ja-JP" altLang="en-US" b="1" dirty="0"/>
              <a:t>プログラミングにおいて命名は、</a:t>
            </a:r>
            <a:endParaRPr lang="en-US" altLang="ja-JP" b="1" dirty="0"/>
          </a:p>
          <a:p>
            <a:pPr marL="0" indent="0" algn="ctr">
              <a:buNone/>
            </a:pPr>
            <a:r>
              <a:rPr lang="ja-JP" altLang="en-US" b="1" u="sng" dirty="0"/>
              <a:t>場合によって</a:t>
            </a:r>
            <a:endParaRPr lang="en-US" altLang="ja-JP" b="1" u="sng" dirty="0"/>
          </a:p>
          <a:p>
            <a:pPr marL="0" indent="0" algn="ctr">
              <a:buNone/>
            </a:pPr>
            <a:r>
              <a:rPr lang="ja-JP" altLang="en-US" b="1" dirty="0">
                <a:solidFill>
                  <a:srgbClr val="FF0000"/>
                </a:solidFill>
              </a:rPr>
              <a:t>ロジックと同等レベルで重要</a:t>
            </a:r>
            <a:r>
              <a:rPr lang="ja-JP" altLang="en-US" b="1" dirty="0"/>
              <a:t>な要素である。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132617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kumimoji="1" lang="ja-JP" altLang="en-US" dirty="0"/>
              <a:t>命名 </a:t>
            </a:r>
            <a:r>
              <a:rPr kumimoji="1" lang="en-US" altLang="ja-JP" dirty="0"/>
              <a:t>(Naming)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52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命名はなぜ重要なのか？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1) </a:t>
            </a:r>
            <a:r>
              <a:rPr lang="ja-JP" altLang="en-US" dirty="0"/>
              <a:t>単純化 </a:t>
            </a:r>
            <a:r>
              <a:rPr lang="en-US" altLang="ja-JP" dirty="0"/>
              <a:t>(</a:t>
            </a:r>
            <a:r>
              <a:rPr lang="ja-JP" altLang="en-US" dirty="0"/>
              <a:t>可読性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r>
              <a:rPr lang="en-US" altLang="ja-JP" dirty="0"/>
              <a:t>	2) </a:t>
            </a:r>
            <a:r>
              <a:rPr lang="ja-JP" altLang="en-US" dirty="0"/>
              <a:t>他者や </a:t>
            </a:r>
            <a:r>
              <a:rPr lang="en-US" altLang="ja-JP" dirty="0"/>
              <a:t>“</a:t>
            </a:r>
            <a:r>
              <a:rPr lang="ja-JP" altLang="en-US" dirty="0"/>
              <a:t>未来の自分</a:t>
            </a:r>
            <a:r>
              <a:rPr lang="en-US" altLang="ja-JP" dirty="0"/>
              <a:t>” </a:t>
            </a:r>
            <a:r>
              <a:rPr lang="ja-JP" altLang="en-US" dirty="0"/>
              <a:t>の理解を助ける為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(</a:t>
            </a:r>
            <a:r>
              <a:rPr lang="ja-JP" altLang="en-US" dirty="0"/>
              <a:t>メンテナンス性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lang="ja-JP" altLang="en-US" sz="2800" dirty="0"/>
              <a:t>→ 逆に言うと、単純なシステムや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	</a:t>
            </a:r>
            <a:r>
              <a:rPr lang="ja-JP" altLang="en-US" sz="2800" dirty="0"/>
              <a:t>使い捨てアプリではさほど気にしなくてもよい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25555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kumimoji="1" lang="ja-JP" altLang="en-US" dirty="0"/>
              <a:t>命名 </a:t>
            </a:r>
            <a:r>
              <a:rPr kumimoji="1" lang="en-US" altLang="ja-JP" dirty="0"/>
              <a:t>(Naming)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5284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命名規約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名前の付け方のルール。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基本的に在ったら従うもの。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→ プロジェクトで用意されてたり、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	</a:t>
            </a:r>
            <a:r>
              <a:rPr lang="ja-JP" altLang="en-US" dirty="0"/>
              <a:t>会社で決まっていたり </a:t>
            </a:r>
            <a:r>
              <a:rPr lang="en-US" altLang="ja-JP" dirty="0" err="1"/>
              <a:t>etc</a:t>
            </a:r>
            <a:r>
              <a:rPr lang="en-US" altLang="ja-JP" dirty="0"/>
              <a:t>…</a:t>
            </a:r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→ 無い場合は自分なりに作るべき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lang="ja-JP" altLang="en-US" sz="2800" dirty="0"/>
              <a:t>　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97743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ja-JP" dirty="0"/>
              <a:t>2. </a:t>
            </a:r>
            <a:r>
              <a:rPr kumimoji="1" lang="ja-JP" altLang="en-US" dirty="0"/>
              <a:t>コメント</a:t>
            </a:r>
            <a:endParaRPr kumimoji="1" lang="en-US" altLang="ja-JP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361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dirty="0"/>
              <a:t>実装コード上に記述されているが、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プログラムの実行には影響を及ぼさない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u="sng" dirty="0"/>
              <a:t>人間の為の</a:t>
            </a:r>
            <a:r>
              <a:rPr lang="ja-JP" altLang="en-US" sz="3200" dirty="0"/>
              <a:t>センテンス</a:t>
            </a:r>
            <a:endParaRPr lang="en-US" altLang="ja-JP" sz="3200" dirty="0"/>
          </a:p>
          <a:p>
            <a:pPr lvl="1"/>
            <a:r>
              <a:rPr lang="ja-JP" altLang="en-US" dirty="0"/>
              <a:t>書式は言語依存 </a:t>
            </a:r>
            <a:endParaRPr lang="en-US" altLang="ja-JP" dirty="0"/>
          </a:p>
          <a:p>
            <a:pPr lvl="1"/>
            <a:r>
              <a:rPr lang="ja-JP" altLang="en-US" dirty="0"/>
              <a:t>コンパイラ型言語では変換時に削除されることも多く、パフォーマンスへの影響はほぼない。</a:t>
            </a:r>
            <a:endParaRPr lang="en-US" altLang="ja-JP" dirty="0"/>
          </a:p>
          <a:p>
            <a:pPr lvl="2"/>
            <a:r>
              <a:rPr lang="ja-JP" altLang="en-US" dirty="0"/>
              <a:t>シンボルに含むコンパイラもある</a:t>
            </a:r>
            <a:endParaRPr lang="en-US" altLang="ja-JP" dirty="0"/>
          </a:p>
          <a:p>
            <a:pPr lvl="1"/>
            <a:r>
              <a:rPr lang="ja-JP" altLang="en-US" dirty="0"/>
              <a:t>スクリプト型言語でもほぼ影響は </a:t>
            </a:r>
            <a:r>
              <a:rPr lang="en-US" altLang="ja-JP" dirty="0"/>
              <a:t>0</a:t>
            </a:r>
            <a:r>
              <a:rPr lang="ja-JP" altLang="en-US" dirty="0"/>
              <a:t>。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2923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ja-JP" dirty="0"/>
              <a:t>2. </a:t>
            </a:r>
            <a:r>
              <a:rPr kumimoji="1" lang="ja-JP" altLang="en-US" dirty="0"/>
              <a:t>コメント</a:t>
            </a:r>
            <a:endParaRPr kumimoji="1" lang="en-US" altLang="ja-JP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361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コメントは人間のためのものであり、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大規模開発やメンテナンス性のためのもの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sz="3200" dirty="0"/>
              <a:t>→やみくもに書けばいいというもの</a:t>
            </a:r>
            <a:r>
              <a:rPr lang="ja-JP" altLang="en-US" sz="3200" b="1" dirty="0">
                <a:solidFill>
                  <a:srgbClr val="FF0000"/>
                </a:solidFill>
              </a:rPr>
              <a:t>でもない</a:t>
            </a:r>
            <a:endParaRPr lang="en-US" altLang="ja-JP" sz="32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88866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ja-JP" dirty="0"/>
              <a:t>2. </a:t>
            </a:r>
            <a:r>
              <a:rPr kumimoji="1" lang="ja-JP" altLang="en-US" dirty="0"/>
              <a:t>コメント</a:t>
            </a:r>
            <a:endParaRPr kumimoji="1" lang="en-US" altLang="ja-JP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361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ハンズオン③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②で作成した関数にコメントを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付けてみましょう。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Tips : JavaScript </a:t>
            </a:r>
            <a:r>
              <a:rPr lang="ja-JP" altLang="en-US" dirty="0"/>
              <a:t>のコメント書式は 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    &lt;!-- </a:t>
            </a:r>
            <a:r>
              <a:rPr lang="ja-JP" altLang="en-US" dirty="0"/>
              <a:t>コメント内容</a:t>
            </a:r>
            <a:r>
              <a:rPr lang="en-US" altLang="ja-JP" dirty="0"/>
              <a:t> --&gt; </a:t>
            </a:r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です。 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4979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ja-JP" dirty="0"/>
              <a:t>2. </a:t>
            </a:r>
            <a:r>
              <a:rPr kumimoji="1" lang="ja-JP" altLang="en-US" dirty="0"/>
              <a:t>コメント</a:t>
            </a:r>
            <a:endParaRPr kumimoji="1" lang="en-US" altLang="ja-JP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361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コメントのアンチパターン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514350" indent="-514350">
              <a:buAutoNum type="arabicParenR"/>
            </a:pPr>
            <a:r>
              <a:rPr lang="ja-JP" altLang="en-US" dirty="0"/>
              <a:t>誤りがある</a:t>
            </a:r>
            <a:r>
              <a:rPr lang="en-US" altLang="ja-JP" dirty="0"/>
              <a:t> </a:t>
            </a:r>
          </a:p>
          <a:p>
            <a:pPr marL="0" indent="0">
              <a:buNone/>
            </a:pPr>
            <a:r>
              <a:rPr lang="en-US" altLang="ja-JP" dirty="0"/>
              <a:t>2)	</a:t>
            </a:r>
            <a:r>
              <a:rPr lang="ja-JP" altLang="en-US" dirty="0"/>
              <a:t>内容の意図が一意に読み取れない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3)	</a:t>
            </a:r>
            <a:r>
              <a:rPr lang="ja-JP" altLang="en-US" dirty="0"/>
              <a:t>意味がない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9834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kumimoji="1" lang="en-US" altLang="ja-JP" sz="4400" dirty="0"/>
              <a:t>Ex) System Engineer </a:t>
            </a:r>
            <a:r>
              <a:rPr kumimoji="1" lang="ja-JP" altLang="en-US" sz="4400" dirty="0"/>
              <a:t>向けの</a:t>
            </a:r>
            <a:br>
              <a:rPr kumimoji="1" lang="en-US" altLang="ja-JP" sz="4400" dirty="0"/>
            </a:br>
            <a:r>
              <a:rPr kumimoji="1" lang="ja-JP" altLang="en-US" sz="4400" dirty="0"/>
              <a:t>　　　おすすめの書籍</a:t>
            </a:r>
            <a:endParaRPr kumimoji="1" lang="en-US" altLang="ja-JP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061DAB-BD89-CB80-8A82-586E4CBE91A9}"/>
              </a:ext>
            </a:extLst>
          </p:cNvPr>
          <p:cNvSpPr txBox="1">
            <a:spLocks/>
          </p:cNvSpPr>
          <p:nvPr/>
        </p:nvSpPr>
        <p:spPr>
          <a:xfrm>
            <a:off x="609600" y="1451003"/>
            <a:ext cx="7973466" cy="43613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hlinkClick r:id="rId2"/>
              </a:rPr>
              <a:t>はじめよう</a:t>
            </a:r>
            <a:r>
              <a:rPr lang="en-US" altLang="ja-JP" dirty="0">
                <a:hlinkClick r:id="rId2"/>
              </a:rPr>
              <a:t>-</a:t>
            </a:r>
            <a:r>
              <a:rPr lang="ja-JP" altLang="en-US" dirty="0">
                <a:hlinkClick r:id="rId2"/>
              </a:rPr>
              <a:t>要件定義</a:t>
            </a:r>
            <a:r>
              <a:rPr lang="en-US" altLang="ja-JP" dirty="0">
                <a:hlinkClick r:id="rId2"/>
              </a:rPr>
              <a:t>-</a:t>
            </a:r>
            <a:r>
              <a:rPr lang="ja-JP" altLang="en-US" dirty="0">
                <a:hlinkClick r:id="rId2"/>
              </a:rPr>
              <a:t>ビギナーからベテランまで</a:t>
            </a:r>
            <a:endParaRPr lang="en-US" altLang="ja-JP" dirty="0"/>
          </a:p>
          <a:p>
            <a:endParaRPr lang="en-US" altLang="ja-JP" dirty="0">
              <a:hlinkClick r:id="rId3"/>
            </a:endParaRPr>
          </a:p>
          <a:p>
            <a:r>
              <a:rPr lang="ja-JP" altLang="en-US" dirty="0">
                <a:hlinkClick r:id="rId3"/>
              </a:rPr>
              <a:t>みずほ銀行システム統合、苦闘の</a:t>
            </a:r>
            <a:r>
              <a:rPr lang="en-US" altLang="ja-JP" dirty="0">
                <a:hlinkClick r:id="rId3"/>
              </a:rPr>
              <a:t>19</a:t>
            </a:r>
            <a:r>
              <a:rPr lang="ja-JP" altLang="en-US" dirty="0">
                <a:hlinkClick r:id="rId3"/>
              </a:rPr>
              <a:t>年史</a:t>
            </a:r>
            <a:r>
              <a:rPr lang="en-US" altLang="ja-JP" dirty="0">
                <a:hlinkClick r:id="rId3"/>
              </a:rPr>
              <a:t>-</a:t>
            </a:r>
            <a:r>
              <a:rPr lang="ja-JP" altLang="en-US" dirty="0">
                <a:hlinkClick r:id="rId3"/>
              </a:rPr>
              <a:t>史上最大の</a:t>
            </a:r>
            <a:r>
              <a:rPr lang="en-US" altLang="ja-JP" dirty="0">
                <a:hlinkClick r:id="rId3"/>
              </a:rPr>
              <a:t>IT</a:t>
            </a:r>
            <a:r>
              <a:rPr lang="ja-JP" altLang="en-US" dirty="0">
                <a:hlinkClick r:id="rId3"/>
              </a:rPr>
              <a:t>プロジェクト「</a:t>
            </a:r>
            <a:r>
              <a:rPr lang="en-US" altLang="ja-JP" dirty="0">
                <a:hlinkClick r:id="rId3"/>
              </a:rPr>
              <a:t>3</a:t>
            </a:r>
            <a:r>
              <a:rPr lang="ja-JP" altLang="en-US" dirty="0">
                <a:hlinkClick r:id="rId3"/>
              </a:rPr>
              <a:t>度目の正直」</a:t>
            </a:r>
            <a:endParaRPr lang="en-US" altLang="ja-JP" dirty="0"/>
          </a:p>
          <a:p>
            <a:endParaRPr lang="en-US" altLang="ja-JP" dirty="0">
              <a:hlinkClick r:id="rId4"/>
            </a:endParaRPr>
          </a:p>
          <a:p>
            <a:r>
              <a:rPr lang="en-US" altLang="ja-JP" dirty="0">
                <a:hlinkClick r:id="rId4"/>
              </a:rPr>
              <a:t>SE</a:t>
            </a:r>
            <a:r>
              <a:rPr lang="ja-JP" altLang="en-US" dirty="0">
                <a:hlinkClick r:id="rId4"/>
              </a:rPr>
              <a:t>の悲鳴</a:t>
            </a:r>
            <a:r>
              <a:rPr lang="en-US" altLang="ja-JP" dirty="0">
                <a:hlinkClick r:id="rId4"/>
              </a:rPr>
              <a:t>-IT</a:t>
            </a:r>
            <a:r>
              <a:rPr lang="ja-JP" altLang="en-US" dirty="0">
                <a:hlinkClick r:id="rId4"/>
              </a:rPr>
              <a:t>エンジニアを食い物にする多重下請け構造の闇</a:t>
            </a:r>
            <a:endParaRPr lang="en-US" altLang="ja-JP" dirty="0"/>
          </a:p>
          <a:p>
            <a:endParaRPr lang="en-US" altLang="ja-JP" dirty="0">
              <a:hlinkClick r:id="rId5"/>
            </a:endParaRPr>
          </a:p>
          <a:p>
            <a:r>
              <a:rPr lang="ja-JP" altLang="en-US" dirty="0">
                <a:hlinkClick r:id="rId5"/>
              </a:rPr>
              <a:t>オペレーション科学</a:t>
            </a:r>
            <a:r>
              <a:rPr lang="en-US" altLang="ja-JP" dirty="0">
                <a:hlinkClick r:id="rId5"/>
              </a:rPr>
              <a:t>-</a:t>
            </a:r>
            <a:r>
              <a:rPr lang="ja-JP" altLang="en-US" dirty="0">
                <a:hlinkClick r:id="rId5"/>
              </a:rPr>
              <a:t>努力に逃げない「これからの組織」を作る</a:t>
            </a:r>
            <a:endParaRPr lang="en-US" altLang="ja-JP" dirty="0"/>
          </a:p>
          <a:p>
            <a:endParaRPr lang="en-US" altLang="ja-JP" b="1" i="0" dirty="0">
              <a:solidFill>
                <a:srgbClr val="0F1111"/>
              </a:solidFill>
              <a:effectLst/>
              <a:latin typeface="Hiragino Kaku Gothic ProN"/>
            </a:endParaRPr>
          </a:p>
          <a:p>
            <a:r>
              <a:rPr lang="ja-JP" altLang="en-US" dirty="0">
                <a:hlinkClick r:id="rId6"/>
              </a:rPr>
              <a:t>「わかりあえない」を越える</a:t>
            </a:r>
            <a:r>
              <a:rPr lang="en-US" altLang="ja-JP" dirty="0">
                <a:hlinkClick r:id="rId6"/>
              </a:rPr>
              <a:t>――</a:t>
            </a:r>
            <a:r>
              <a:rPr lang="ja-JP" altLang="en-US" dirty="0">
                <a:hlinkClick r:id="rId6"/>
              </a:rPr>
              <a:t>目の前のつながりから、共に未来をつくるコミュニケーション・</a:t>
            </a:r>
            <a:r>
              <a:rPr lang="en-US" altLang="ja-JP" dirty="0">
                <a:hlinkClick r:id="rId6"/>
              </a:rPr>
              <a:t>NVC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>
                <a:hlinkClick r:id="rId7"/>
              </a:rPr>
              <a:t>はじめての人の簿記入門塾</a:t>
            </a:r>
            <a:r>
              <a:rPr lang="en-US" altLang="ja-JP" dirty="0">
                <a:hlinkClick r:id="rId7"/>
              </a:rPr>
              <a:t>―</a:t>
            </a:r>
            <a:r>
              <a:rPr lang="ja-JP" altLang="en-US" dirty="0">
                <a:hlinkClick r:id="rId7"/>
              </a:rPr>
              <a:t>まずはこの本から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66350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ED74403CE07F4A9C63C1CA2F283A77" ma:contentTypeVersion="19" ma:contentTypeDescription="Create a new document." ma:contentTypeScope="" ma:versionID="9c859a927e1bebcd5255f21dae5dcb0e">
  <xsd:schema xmlns:xsd="http://www.w3.org/2001/XMLSchema" xmlns:xs="http://www.w3.org/2001/XMLSchema" xmlns:p="http://schemas.microsoft.com/office/2006/metadata/properties" xmlns:ns1="http://schemas.microsoft.com/sharepoint/v3" xmlns:ns3="cb7a31d2-9143-4a3a-88ef-1dec39a0ae34" xmlns:ns4="a3219b37-e2d5-4158-903f-89e7010ce5d7" targetNamespace="http://schemas.microsoft.com/office/2006/metadata/properties" ma:root="true" ma:fieldsID="205c8feaa0401f96e2cf82580194a969" ns1:_="" ns3:_="" ns4:_="">
    <xsd:import namespace="http://schemas.microsoft.com/sharepoint/v3"/>
    <xsd:import namespace="cb7a31d2-9143-4a3a-88ef-1dec39a0ae34"/>
    <xsd:import namespace="a3219b37-e2d5-4158-903f-89e7010ce5d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4:MediaLengthInSeconds" minOccurs="0"/>
                <xsd:element ref="ns1:_ip_UnifiedCompliancePolicyProperties" minOccurs="0"/>
                <xsd:element ref="ns1:_ip_UnifiedCompliancePolicyUIAc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7a31d2-9143-4a3a-88ef-1dec39a0ae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219b37-e2d5-4158-903f-89e7010ce5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a3219b37-e2d5-4158-903f-89e7010ce5d7" xsi:nil="true"/>
  </documentManagement>
</p:properties>
</file>

<file path=customXml/itemProps1.xml><?xml version="1.0" encoding="utf-8"?>
<ds:datastoreItem xmlns:ds="http://schemas.openxmlformats.org/officeDocument/2006/customXml" ds:itemID="{46465A25-D6F4-4841-BA83-DEA60B6954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b7a31d2-9143-4a3a-88ef-1dec39a0ae34"/>
    <ds:schemaRef ds:uri="a3219b37-e2d5-4158-903f-89e7010ce5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D31A55-5A9D-47EC-8153-87113625EB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C6DC3B-20BE-4B97-8379-2DB89E609055}">
  <ds:schemaRefs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cb7a31d2-9143-4a3a-88ef-1dec39a0ae34"/>
    <ds:schemaRef ds:uri="http://purl.org/dc/terms/"/>
    <ds:schemaRef ds:uri="a3219b37-e2d5-4158-903f-89e7010ce5d7"/>
    <ds:schemaRef ds:uri="http://schemas.microsoft.com/sharepoint/v3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5859</TotalTime>
  <Words>651</Words>
  <Application>Microsoft Office PowerPoint</Application>
  <PresentationFormat>画面に合わせる (4:3)</PresentationFormat>
  <Paragraphs>108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Google Sans</vt:lpstr>
      <vt:lpstr>Hiragino Kaku Gothic ProN</vt:lpstr>
      <vt:lpstr>Arial</vt:lpstr>
      <vt:lpstr>Calibri</vt:lpstr>
      <vt:lpstr>Office Theme</vt:lpstr>
      <vt:lpstr>実装</vt:lpstr>
      <vt:lpstr>Agenda</vt:lpstr>
      <vt:lpstr>Learning Objectives :</vt:lpstr>
      <vt:lpstr>Introduction</vt:lpstr>
      <vt:lpstr>命名 (Naming)</vt:lpstr>
      <vt:lpstr>命名 (Naming)</vt:lpstr>
      <vt:lpstr>命名 (Naming)</vt:lpstr>
      <vt:lpstr>命名 (Naming)</vt:lpstr>
      <vt:lpstr>命名 (Naming)</vt:lpstr>
      <vt:lpstr>命名 (Naming)</vt:lpstr>
      <vt:lpstr>2. コメント</vt:lpstr>
      <vt:lpstr>2. コメント</vt:lpstr>
      <vt:lpstr>2. コメント</vt:lpstr>
      <vt:lpstr>2. コメント</vt:lpstr>
      <vt:lpstr>Ex) System Engineer 向けの 　　　おすすめの書籍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 Nakabayashi</dc:creator>
  <cp:keywords/>
  <dc:description>generated using python-pptx</dc:description>
  <cp:lastModifiedBy>So Nakabayashi</cp:lastModifiedBy>
  <cp:revision>35</cp:revision>
  <dcterms:created xsi:type="dcterms:W3CDTF">2013-01-27T09:14:16Z</dcterms:created>
  <dcterms:modified xsi:type="dcterms:W3CDTF">2024-08-27T17:58:33Z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0x010100B7ED74403CE07F4A9C63C1CA2F283A77</vt:lpwstr>
  </property>
</Properties>
</file>